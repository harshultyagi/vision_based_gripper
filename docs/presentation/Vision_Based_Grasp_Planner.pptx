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a815fc-c218-2851-5e95-70536150d98b}">
          <p14:sldIdLst>
            <p14:sldId id="256"/>
          </p14:sldIdLst>
        </p14:section>
        <p14:section name="Approach" id="{f8314f33-89cb-b2be-774a-4e7d510e8328}">
          <p14:sldIdLst>
            <p14:sldId id="257"/>
            <p14:sldId id="258"/>
          </p14:sldIdLst>
        </p14:section>
        <p14:section name="Training" id="{60f3c0b3-1495-e5d1-2dbc-8009e3f311af}">
          <p14:sldIdLst>
            <p14:sldId id="259"/>
          </p14:sldIdLst>
        </p14:section>
        <p14:section name="Results" id="{f2dae25b-6cd1-c4e0-2a3c-49dc5d96aaf3}">
          <p14:sldIdLst>
            <p14:sldId id="260"/>
            <p14:sldId id="261"/>
          </p14:sldIdLst>
        </p14:section>
        <p14:section name="Try it" id="{4549e7df-bc64-bc7b-4236-0b7860e1b87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mn-lt"/>
              </a:defRPr>
            </a:pPr>
            <a:r>
              <a:rPr sz="1200" b="0" i="0" u="none" strike="noStrike">
                <a:solidFill>
                  <a:srgbClr val="1B2631"/>
                </a:solidFill>
                <a:latin typeface="+mn-lt"/>
              </a:rPr>
              <a:t>Test top-1 accuracy (%)</a:t>
            </a:r>
          </a:p>
        </c:rich>
      </c:tx>
      <c:layout/>
      <c:overlay val="0"/>
    </c:title>
    <c:autoTitleDeleted val="0"/>
    <c:plotArea>
      <c:layout/>
      <c:barChart>
        <c:barDir val="bar"/>
        <c:grouping val="clustered"/>
        <c:varyColors val="0"/>
        <c:ser>
          <c:idx val="0"/>
          <c:order val="0"/>
          <c:tx>
            <c:strRef>
              <c:f>Sheet1!$B$1</c:f>
              <c:strCache>
                <c:ptCount val="1"/>
                <c:pt idx="0">
                  <c:v>Test top-1 accuracy (%)</c:v>
                </c:pt>
              </c:strCache>
            </c:strRef>
          </c:tx>
          <c:spPr>
            <a:solidFill>
              <a:srgbClr val="F28C28"/>
            </a:solidFill>
            <a:effectLst/>
          </c:spPr>
          <c:invertIfNegative val="0"/>
          <c:dLbls>
            <c:numFmt formatCode="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cat>
            <c:multiLvlStrRef>
              <c:f>Sheet1!$A$2:$A$6</c:f>
              <c:multiLvlStrCache>
                <c:ptCount val="5"/>
                <c:lvl>
                  <c:pt idx="0">
                    <c:v>GR-ConvNet RGB-D (final)</c:v>
                  </c:pt>
                  <c:pt idx="1">
                    <c:v>GR-ConvNet RGB only</c:v>
                  </c:pt>
                  <c:pt idx="2">
                    <c:v>GG-CNN RGB-D</c:v>
                  </c:pt>
                  <c:pt idx="3">
                    <c:v>GR-ConvNet RGB-D, block split</c:v>
                  </c:pt>
                  <c:pt idx="4">
                    <c:v>GG-CNN RGB-D, block split</c:v>
                  </c:pt>
                </c:lvl>
              </c:multiLvlStrCache>
            </c:multiLvlStrRef>
          </c:cat>
          <c:val>
            <c:numRef>
              <c:f>Sheet1!$B$2:$B$6</c:f>
              <c:numCache>
                <c:formatCode>General</c:formatCode>
                <c:ptCount val="5"/>
                <c:pt idx="0">
                  <c:v>88.6</c:v>
                </c:pt>
                <c:pt idx="1">
                  <c:v>90.2</c:v>
                </c:pt>
                <c:pt idx="2">
                  <c:v>84.8</c:v>
                </c:pt>
                <c:pt idx="3">
                  <c:v>75.9</c:v>
                </c:pt>
                <c:pt idx="4">
                  <c:v>78.4</c:v>
                </c:pt>
              </c:numCache>
            </c:numRef>
          </c:val>
        </c:ser>
        <c:dLbls>
          <c:numFmt formatCode="0.0" sourceLinked="0"/>
          <c:txPr>
            <a:bodyPr/>
            <a:lstStyle/>
            <a:p>
              <a:pPr>
                <a:defRPr b="0" i="0" strike="noStrike" sz="1100" u="none">
                  <a:solidFill>
                    <a:srgbClr val="1B26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405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3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D99A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given an image of one object, predict a grasp for a two-finger (parallel-jaw) gripper: where to put the centre, how to rotate the gripper, how wide to open, and where the two fingers touch. The picture is a real prediction on a test object the model never saw in training. Blue = chosen grasp, magenta = finger contact points, green = human-labelled good grasps.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grasp for a two-finger gripper seen from above is a rotated rectangle: centre, angle, opening width, plus the two contact points. Dataset: Cornell Grasping Dataset, 885 RGB-D scenes, 5110 positive grasp rectangles; all scenes usable, one malformed rectangle rejected. Kaggle copy: https://www.kaggle.com/datasets/oneoneliu/cornell-grasp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Every annotation is parsed and checked; bad ones are reported, never silently dropped. Splits are made first so no test image leaks into training. 2) A fixed crop chosen from training data only, resized to 224x224; training images are randomly rotated, zoomed, shifted and mirrored, and the grasp labels are transformed with exactly the same matrix. 3) A fully convolutional network outputs four maps the size of the image: grasp quality, cos 2θ, sin 2θ and width. 4) Local maxima of the quality map become candidates; validity checks and non-maximum suppression remove bad and duplicate ones; the rest are ranked. 5) Standard Cornell metric: the top grasp must overlap a labelled grasp by more than 25% IoU with less than 30° angle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were trained with identical data, augmentation, loss (sum of four Smooth-L1 terms), optimiser (Adam, learning rate 1e-3, cosine decay to 1e-5), batch size 8, up to 100 epochs with early stopping (patience 30) and the same decoding, so the comparison isolates the architecture. Why: the dataset is small, so augmentation and early stopping fight overfitting; the doubled-angle encoding removes the jump at ±90°; Smooth-L1 is less sensitive to label noise than squared error; Adam with cosine decay trains reliably without tuning. Checkpoints were chosen on validation accuracy and that choice was committed before the test set was evaluated once. Each full run took about 4-11 minutes on an RTX 4060 laptop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GR-ConvNet with RGB-D input, chosen on validation accuracy. On the held-out image-wise test split (132 images, evaluated once) its first-ranked grasp met the Cornell criterion on 88.6% of images, and one of its top five on 95.5%. Network plus decoding takes about 5.8 ms per image. With about 120-130 test images, differences of a few points between models are within noise. The GR-ConvNet paper reports 97.7% under a different protocol (crop centred on the ground-truth grasps, cross-validation), so it is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outputs of the final model (scripts/predict.py) on two test-split scenes. The blue rectangle is the selected grasp, magenta dots are where the fingers touch, amber rectangles are the next-best candidates with their scores, green rectangles are the human labels. In both cases the chosen grasp closes across the narrow part of the object. Scores are the network's quality output, not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live demo https://huggingface.co/spaces/btechbillu/Vission-Based-grasper (Hugging Face Space, runs on CPU, includes four clickable test scenes); code and report https://github.com/harshultyagi/vision_based_gripper; dataset https://www.kaggle.com/datasets/oneoneliu/cornell-grasp. Limitations: trained only on single-object Cornell scenes from one camera setup; predicts 2-D image grasps (no 3-D pose, calibration or collision checking); not validated on physical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93776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457200" y="2834640"/>
            <a:ext cx="4937760" cy="9144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Vision-Based Grasp Planner  ·  Cornell Grasping Dataset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kaggle.com/datasets/oneoneliu/cornell-grasp" TargetMode="Externa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huggingface.co/spaces/btechbillu/Vission-Based-grasper" TargetMode="External"/><Relationship Id="rId4" Type="http://schemas.openxmlformats.org/officeDocument/2006/relationships/hyperlink" Target="https://github.com/harshultyagi/vision_based_gripper" TargetMode="External"/><Relationship Id="rId6" Type="http://schemas.openxmlformats.org/officeDocument/2006/relationships/hyperlink" Target="https://www.kaggle.com/datasets/oneoneliu/cornell-grasp" TargetMode="Externa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image" Target="../media/image-7-3.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937760" cy="1463040"/>
          </a:xfrm>
          <a:prstGeom prst="rect">
            <a:avLst/>
          </a:prstGeom>
          <a:noFill/>
          <a:ln/>
        </p:spPr>
        <p:txBody>
          <a:bodyPr wrap="square" lIns="0" tIns="0" rIns="0" bIns="0" rtlCol="0" anchor="b"/>
          <a:lstStyle/>
          <a:p>
            <a:pPr algn="l" indent="0" marL="0">
              <a:buNone/>
            </a:pPr>
            <a:r>
              <a:rPr lang="en-US" sz="3600" b="1" dirty="0">
                <a:solidFill>
                  <a:schemeClr val="bg1"/>
                </a:solidFill>
              </a:rPr>
              <a:t>Vision-Based Robotic Grasp Planner</a:t>
            </a:r>
            <a:endParaRPr lang="en-US" sz="3600" dirty="0"/>
          </a:p>
        </p:txBody>
      </p:sp>
      <p:sp>
        <p:nvSpPr>
          <p:cNvPr id="3" name="Text 0"/>
          <p:cNvSpPr/>
          <p:nvPr>
            <p:ph idx="101" type="body" hasCustomPrompt="1"/>
          </p:nvPr>
        </p:nvSpPr>
        <p:spPr>
          <a:xfrm>
            <a:off x="457200" y="2834640"/>
            <a:ext cx="4937760" cy="914400"/>
          </a:xfrm>
          <a:prstGeom prst="rect">
            <a:avLst/>
          </a:prstGeom>
          <a:noFill/>
          <a:ln/>
        </p:spPr>
        <p:txBody>
          <a:bodyPr wrap="square" lIns="0" tIns="0" rIns="0" bIns="0" rtlCol="0" anchor="t"/>
          <a:lstStyle/>
          <a:p>
            <a:pPr indent="0" marL="0">
              <a:buNone/>
            </a:pPr>
            <a:r>
              <a:rPr lang="en-US" sz="1600" dirty="0">
                <a:solidFill>
                  <a:schemeClr val="bg2"/>
                </a:solidFill>
              </a:rPr>
              <a:t>Predicting where a parallel-jaw gripper should grab an object, from a single image</a:t>
            </a:r>
            <a:endParaRPr lang="en-US" sz="1600" dirty="0"/>
          </a:p>
        </p:txBody>
      </p:sp>
      <p:sp>
        <p:nvSpPr>
          <p:cNvPr id="4" name="author"/>
          <p:cNvSpPr txBox="1"/>
          <p:nvPr/>
        </p:nvSpPr>
        <p:spPr>
          <a:xfrm>
            <a:off x="457200" y="4160520"/>
            <a:ext cx="4937760" cy="320040"/>
          </a:xfrm>
          <a:prstGeom prst="rect">
            <a:avLst/>
          </a:prstGeom>
          <a:noFill/>
          <a:ln/>
        </p:spPr>
        <p:txBody>
          <a:bodyPr wrap="square" lIns="0" tIns="0" rIns="0" bIns="0" rtlCol="0" anchor="ctr"/>
          <a:lstStyle/>
          <a:p>
            <a:pPr indent="0" marL="0">
              <a:buNone/>
            </a:pPr>
            <a:r>
              <a:rPr lang="en-US" sz="1400" dirty="0">
                <a:solidFill>
                  <a:schemeClr val="accent1"/>
                </a:solidFill>
              </a:rPr>
              <a:t>Harshul Tyagi  ·  October 2026</a:t>
            </a:r>
            <a:endParaRPr lang="en-US" sz="1400" dirty="0"/>
          </a:p>
        </p:txBody>
      </p:sp>
      <p:pic>
        <p:nvPicPr>
          <p:cNvPr id="5" name="hero-prediction" descr="preencoded.png">    </p:cNvPr>
          <p:cNvPicPr>
            <a:picLocks noChangeAspect="1"/>
          </p:cNvPicPr>
          <p:nvPr/>
        </p:nvPicPr>
        <p:blipFill>
          <a:blip r:embed="rId1"/>
          <a:stretch>
            <a:fillRect/>
          </a:stretch>
        </p:blipFill>
        <p:spPr>
          <a:xfrm>
            <a:off x="5806440" y="685800"/>
            <a:ext cx="2971800" cy="2971800"/>
          </a:xfrm>
          <a:prstGeom prst="ellipse">
            <a:avLst/>
          </a:prstGeom>
        </p:spPr>
      </p:pic>
      <p:sp>
        <p:nvSpPr>
          <p:cNvPr id="6" name="hero-caption"/>
          <p:cNvSpPr txBox="1"/>
          <p:nvPr/>
        </p:nvSpPr>
        <p:spPr>
          <a:xfrm>
            <a:off x="5806440" y="3749040"/>
            <a:ext cx="2971800" cy="274320"/>
          </a:xfrm>
          <a:prstGeom prst="rect">
            <a:avLst/>
          </a:prstGeom>
          <a:noFill/>
          <a:ln/>
        </p:spPr>
        <p:txBody>
          <a:bodyPr wrap="square" lIns="0" tIns="0" rIns="0" bIns="0" rtlCol="0" anchor="ctr"/>
          <a:lstStyle/>
          <a:p>
            <a:pPr algn="ctr" indent="0" marL="0">
              <a:buNone/>
            </a:pPr>
            <a:r>
              <a:rPr lang="en-US" sz="1100" i="1" dirty="0">
                <a:solidFill>
                  <a:schemeClr val="bg2"/>
                </a:solidFill>
              </a:rPr>
              <a:t>Model output on an unseen test object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A grasp is just a few numbers</a:t>
            </a:r>
            <a:endParaRPr lang="en-US" sz="3000" dirty="0"/>
          </a:p>
        </p:txBody>
      </p:sp>
      <p:sp>
        <p:nvSpPr>
          <p:cNvPr id="3" name="object"/>
          <p:cNvSpPr/>
          <p:nvPr/>
        </p:nvSpPr>
        <p:spPr>
          <a:xfrm>
            <a:off x="914400" y="2148840"/>
            <a:ext cx="2560320" cy="685800"/>
          </a:xfrm>
          <a:prstGeom prst="roundRect">
            <a:avLst>
              <a:gd name="adj" fmla="val 16000"/>
            </a:avLst>
          </a:prstGeom>
          <a:solidFill>
            <a:schemeClr val="tx2"/>
          </a:solidFill>
          <a:ln/>
        </p:spPr>
      </p:sp>
      <p:sp>
        <p:nvSpPr>
          <p:cNvPr id="4" name="grasp-rect"/>
          <p:cNvSpPr/>
          <p:nvPr/>
        </p:nvSpPr>
        <p:spPr>
          <a:xfrm>
            <a:off x="1783080" y="1691640"/>
            <a:ext cx="822960" cy="1600200"/>
          </a:xfrm>
          <a:prstGeom prst="rect">
            <a:avLst/>
          </a:prstGeom>
          <a:ln w="38100">
            <a:solidFill>
              <a:schemeClr val="accent1"/>
            </a:solidFill>
            <a:prstDash val="solid"/>
          </a:ln>
        </p:spPr>
      </p:sp>
      <p:sp>
        <p:nvSpPr>
          <p:cNvPr id="5" name="contact-1"/>
          <p:cNvSpPr/>
          <p:nvPr/>
        </p:nvSpPr>
        <p:spPr>
          <a:xfrm>
            <a:off x="2103120" y="2057400"/>
            <a:ext cx="182880" cy="182880"/>
          </a:xfrm>
          <a:prstGeom prst="ellipse">
            <a:avLst/>
          </a:prstGeom>
          <a:solidFill>
            <a:schemeClr val="accent6"/>
          </a:solidFill>
          <a:ln w="12700">
            <a:solidFill>
              <a:schemeClr val="bg1"/>
            </a:solidFill>
            <a:prstDash val="solid"/>
          </a:ln>
        </p:spPr>
      </p:sp>
      <p:sp>
        <p:nvSpPr>
          <p:cNvPr id="6" name="contact-2"/>
          <p:cNvSpPr/>
          <p:nvPr/>
        </p:nvSpPr>
        <p:spPr>
          <a:xfrm>
            <a:off x="2103120" y="2743200"/>
            <a:ext cx="182880" cy="182880"/>
          </a:xfrm>
          <a:prstGeom prst="ellipse">
            <a:avLst/>
          </a:prstGeom>
          <a:solidFill>
            <a:schemeClr val="accent6"/>
          </a:solidFill>
          <a:ln w="12700">
            <a:solidFill>
              <a:schemeClr val="bg1"/>
            </a:solidFill>
            <a:prstDash val="solid"/>
          </a:ln>
        </p:spPr>
      </p:sp>
      <p:sp>
        <p:nvSpPr>
          <p:cNvPr id="7" name="grasp-params"/>
          <p:cNvSpPr txBox="1"/>
          <p:nvPr/>
        </p:nvSpPr>
        <p:spPr>
          <a:xfrm>
            <a:off x="3703320" y="1188720"/>
            <a:ext cx="2194560" cy="3017520"/>
          </a:xfrm>
          <a:prstGeom prst="rect">
            <a:avLst/>
          </a:prstGeom>
          <a:noFill/>
          <a:ln/>
        </p:spPr>
        <p:txBody>
          <a:bodyPr wrap="square" lIns="0" tIns="0" rIns="0" bIns="0" rtlCol="0" anchor="ctr"/>
          <a:lstStyle/>
          <a:p>
            <a:pPr indent="0" marL="0">
              <a:spcAft>
                <a:spcPts val="200"/>
              </a:spcAft>
              <a:buNone/>
            </a:pPr>
            <a:r>
              <a:rPr lang="en-US" sz="1400" b="1" dirty="0">
                <a:solidFill>
                  <a:schemeClr val="tx1"/>
                </a:solidFill>
              </a:rPr>
              <a:t>Centre (x, y)</a:t>
            </a:r>
            <a:endParaRPr lang="en-US" sz="1400" dirty="0"/>
          </a:p>
          <a:p>
            <a:pPr indent="0" marL="0">
              <a:spcAft>
                <a:spcPts val="200"/>
              </a:spcAft>
              <a:buNone/>
            </a:pPr>
            <a:r>
              <a:rPr lang="en-US" sz="1400" dirty="0">
                <a:solidFill>
                  <a:schemeClr val="tx1"/>
                </a:solidFill>
              </a:rPr>
              <a:t>where the gripper goes</a:t>
            </a:r>
            <a:endParaRPr lang="en-US" sz="1400" dirty="0"/>
          </a:p>
          <a:p>
            <a:pPr indent="0" marL="0">
              <a:spcAft>
                <a:spcPts val="200"/>
              </a:spcAft>
              <a:buNone/>
            </a:pPr>
            <a:r>
              <a:rPr lang="en-US" sz="1400" b="1" dirty="0">
                <a:solidFill>
                  <a:schemeClr val="tx1"/>
                </a:solidFill>
              </a:rPr>
              <a:t>Angle θ</a:t>
            </a:r>
            <a:endParaRPr lang="en-US" sz="1400" dirty="0"/>
          </a:p>
          <a:p>
            <a:pPr indent="0" marL="0">
              <a:spcAft>
                <a:spcPts val="200"/>
              </a:spcAft>
              <a:buNone/>
            </a:pPr>
            <a:r>
              <a:rPr lang="en-US" sz="1400" dirty="0">
                <a:solidFill>
                  <a:schemeClr val="tx1"/>
                </a:solidFill>
              </a:rPr>
              <a:t>how it is rotated</a:t>
            </a:r>
            <a:endParaRPr lang="en-US" sz="1400" dirty="0"/>
          </a:p>
          <a:p>
            <a:pPr indent="0" marL="0">
              <a:spcAft>
                <a:spcPts val="200"/>
              </a:spcAft>
              <a:buNone/>
            </a:pPr>
            <a:r>
              <a:rPr lang="en-US" sz="1400" b="1" dirty="0">
                <a:solidFill>
                  <a:schemeClr val="tx1"/>
                </a:solidFill>
              </a:rPr>
              <a:t>Width</a:t>
            </a:r>
            <a:endParaRPr lang="en-US" sz="1400" dirty="0"/>
          </a:p>
          <a:p>
            <a:pPr indent="0" marL="0">
              <a:spcAft>
                <a:spcPts val="200"/>
              </a:spcAft>
              <a:buNone/>
            </a:pPr>
            <a:r>
              <a:rPr lang="en-US" sz="1400" dirty="0">
                <a:solidFill>
                  <a:schemeClr val="tx1"/>
                </a:solidFill>
              </a:rPr>
              <a:t>how far it opens</a:t>
            </a:r>
            <a:endParaRPr lang="en-US" sz="1400" dirty="0"/>
          </a:p>
          <a:p>
            <a:pPr indent="0" marL="0">
              <a:spcAft>
                <a:spcPts val="200"/>
              </a:spcAft>
              <a:buNone/>
            </a:pPr>
            <a:r>
              <a:rPr lang="en-US" sz="1400" b="1" dirty="0">
                <a:solidFill>
                  <a:schemeClr val="accent6"/>
                </a:solidFill>
              </a:rPr>
              <a:t>Contact points</a:t>
            </a:r>
            <a:endParaRPr lang="en-US" sz="1400" dirty="0"/>
          </a:p>
          <a:p>
            <a:pPr indent="0" marL="0">
              <a:spcAft>
                <a:spcPts val="200"/>
              </a:spcAft>
              <a:buNone/>
            </a:pPr>
            <a:r>
              <a:rPr lang="en-US" sz="1400" dirty="0">
                <a:solidFill>
                  <a:schemeClr val="tx1"/>
                </a:solidFill>
              </a:rPr>
              <a:t>where fingers touch</a:t>
            </a:r>
            <a:endParaRPr lang="en-US" sz="1400" dirty="0"/>
          </a:p>
        </p:txBody>
      </p:sp>
      <p:sp>
        <p:nvSpPr>
          <p:cNvPr id="8" name="stat-card-885"/>
          <p:cNvSpPr/>
          <p:nvPr/>
        </p:nvSpPr>
        <p:spPr>
          <a:xfrm>
            <a:off x="5989320" y="1143000"/>
            <a:ext cx="2697480" cy="960120"/>
          </a:xfrm>
          <a:prstGeom prst="roundRect">
            <a:avLst>
              <a:gd name="adj" fmla="val 9524"/>
            </a:avLst>
          </a:prstGeom>
          <a:solidFill>
            <a:schemeClr val="bg2"/>
          </a:solidFill>
          <a:ln/>
        </p:spPr>
      </p:sp>
      <p:sp>
        <p:nvSpPr>
          <p:cNvPr id="9" name="stat-885"/>
          <p:cNvSpPr txBox="1"/>
          <p:nvPr/>
        </p:nvSpPr>
        <p:spPr>
          <a:xfrm>
            <a:off x="6172200" y="1216152"/>
            <a:ext cx="2377440" cy="502920"/>
          </a:xfrm>
          <a:prstGeom prst="rect">
            <a:avLst/>
          </a:prstGeom>
          <a:noFill/>
          <a:ln/>
        </p:spPr>
        <p:txBody>
          <a:bodyPr wrap="square" lIns="0" tIns="0" rIns="0" bIns="0" rtlCol="0" anchor="ctr"/>
          <a:lstStyle/>
          <a:p>
            <a:pPr indent="0" marL="0">
              <a:buNone/>
            </a:pPr>
            <a:r>
              <a:rPr lang="en-US" sz="3000" b="1" dirty="0">
                <a:solidFill>
                  <a:schemeClr val="accent1"/>
                </a:solidFill>
              </a:rPr>
              <a:t>885</a:t>
            </a:r>
            <a:endParaRPr lang="en-US" sz="3000" dirty="0"/>
          </a:p>
        </p:txBody>
      </p:sp>
      <p:sp>
        <p:nvSpPr>
          <p:cNvPr id="10" name="stat-label-885"/>
          <p:cNvSpPr txBox="1"/>
          <p:nvPr/>
        </p:nvSpPr>
        <p:spPr>
          <a:xfrm>
            <a:off x="6172200" y="1691640"/>
            <a:ext cx="2377440" cy="347472"/>
          </a:xfrm>
          <a:prstGeom prst="rect">
            <a:avLst/>
          </a:prstGeom>
          <a:noFill/>
          <a:ln/>
        </p:spPr>
        <p:txBody>
          <a:bodyPr wrap="square" lIns="0" tIns="0" rIns="0" bIns="0" rtlCol="0" anchor="ctr"/>
          <a:lstStyle/>
          <a:p>
            <a:pPr indent="0" marL="0">
              <a:buNone/>
            </a:pPr>
            <a:r>
              <a:rPr lang="en-US" sz="1200" dirty="0">
                <a:solidFill>
                  <a:schemeClr val="tx2"/>
                </a:solidFill>
              </a:rPr>
              <a:t>RGB + depth photos, one object each</a:t>
            </a:r>
            <a:endParaRPr lang="en-US" sz="1200" dirty="0"/>
          </a:p>
        </p:txBody>
      </p:sp>
      <p:sp>
        <p:nvSpPr>
          <p:cNvPr id="11" name="stat-card-5,110"/>
          <p:cNvSpPr/>
          <p:nvPr/>
        </p:nvSpPr>
        <p:spPr>
          <a:xfrm>
            <a:off x="5989320" y="2240280"/>
            <a:ext cx="2697480" cy="960120"/>
          </a:xfrm>
          <a:prstGeom prst="roundRect">
            <a:avLst>
              <a:gd name="adj" fmla="val 9524"/>
            </a:avLst>
          </a:prstGeom>
          <a:solidFill>
            <a:schemeClr val="bg2"/>
          </a:solidFill>
          <a:ln/>
        </p:spPr>
      </p:sp>
      <p:sp>
        <p:nvSpPr>
          <p:cNvPr id="12" name="stat-5,110"/>
          <p:cNvSpPr txBox="1"/>
          <p:nvPr/>
        </p:nvSpPr>
        <p:spPr>
          <a:xfrm>
            <a:off x="6172200" y="2313432"/>
            <a:ext cx="2377440" cy="502920"/>
          </a:xfrm>
          <a:prstGeom prst="rect">
            <a:avLst/>
          </a:prstGeom>
          <a:noFill/>
          <a:ln/>
        </p:spPr>
        <p:txBody>
          <a:bodyPr wrap="square" lIns="0" tIns="0" rIns="0" bIns="0" rtlCol="0" anchor="ctr"/>
          <a:lstStyle/>
          <a:p>
            <a:pPr indent="0" marL="0">
              <a:buNone/>
            </a:pPr>
            <a:r>
              <a:rPr lang="en-US" sz="3000" b="1" dirty="0">
                <a:solidFill>
                  <a:schemeClr val="accent1"/>
                </a:solidFill>
              </a:rPr>
              <a:t>5,110</a:t>
            </a:r>
            <a:endParaRPr lang="en-US" sz="3000" dirty="0"/>
          </a:p>
        </p:txBody>
      </p:sp>
      <p:sp>
        <p:nvSpPr>
          <p:cNvPr id="13" name="stat-label-5,110"/>
          <p:cNvSpPr txBox="1"/>
          <p:nvPr/>
        </p:nvSpPr>
        <p:spPr>
          <a:xfrm>
            <a:off x="6172200" y="2788920"/>
            <a:ext cx="2377440" cy="347472"/>
          </a:xfrm>
          <a:prstGeom prst="rect">
            <a:avLst/>
          </a:prstGeom>
          <a:noFill/>
          <a:ln/>
        </p:spPr>
        <p:txBody>
          <a:bodyPr wrap="square" lIns="0" tIns="0" rIns="0" bIns="0" rtlCol="0" anchor="ctr"/>
          <a:lstStyle/>
          <a:p>
            <a:pPr indent="0" marL="0">
              <a:buNone/>
            </a:pPr>
            <a:r>
              <a:rPr lang="en-US" sz="1200" dirty="0">
                <a:solidFill>
                  <a:schemeClr val="tx2"/>
                </a:solidFill>
              </a:rPr>
              <a:t>human-labelled good grasps</a:t>
            </a:r>
            <a:endParaRPr lang="en-US" sz="1200" dirty="0"/>
          </a:p>
        </p:txBody>
      </p:sp>
      <p:sp>
        <p:nvSpPr>
          <p:cNvPr id="14" name="stat-card-70 / 15 / 15"/>
          <p:cNvSpPr/>
          <p:nvPr/>
        </p:nvSpPr>
        <p:spPr>
          <a:xfrm>
            <a:off x="5989320" y="3337560"/>
            <a:ext cx="2697480" cy="960120"/>
          </a:xfrm>
          <a:prstGeom prst="roundRect">
            <a:avLst>
              <a:gd name="adj" fmla="val 9524"/>
            </a:avLst>
          </a:prstGeom>
          <a:solidFill>
            <a:schemeClr val="bg2"/>
          </a:solidFill>
          <a:ln/>
        </p:spPr>
      </p:sp>
      <p:sp>
        <p:nvSpPr>
          <p:cNvPr id="15" name="stat-70 / 15 / 15"/>
          <p:cNvSpPr txBox="1"/>
          <p:nvPr/>
        </p:nvSpPr>
        <p:spPr>
          <a:xfrm>
            <a:off x="6172200" y="3410712"/>
            <a:ext cx="2377440" cy="502920"/>
          </a:xfrm>
          <a:prstGeom prst="rect">
            <a:avLst/>
          </a:prstGeom>
          <a:noFill/>
          <a:ln/>
        </p:spPr>
        <p:txBody>
          <a:bodyPr wrap="square" lIns="0" tIns="0" rIns="0" bIns="0" rtlCol="0" anchor="ctr"/>
          <a:lstStyle/>
          <a:p>
            <a:pPr indent="0" marL="0">
              <a:buNone/>
            </a:pPr>
            <a:r>
              <a:rPr lang="en-US" sz="3000" b="1" dirty="0">
                <a:solidFill>
                  <a:schemeClr val="accent1"/>
                </a:solidFill>
              </a:rPr>
              <a:t>70 / 15 / 15</a:t>
            </a:r>
            <a:endParaRPr lang="en-US" sz="3000" dirty="0"/>
          </a:p>
        </p:txBody>
      </p:sp>
      <p:sp>
        <p:nvSpPr>
          <p:cNvPr id="16" name="stat-label-70 / 15 / 15"/>
          <p:cNvSpPr txBox="1"/>
          <p:nvPr/>
        </p:nvSpPr>
        <p:spPr>
          <a:xfrm>
            <a:off x="6172200" y="3886200"/>
            <a:ext cx="2377440" cy="347472"/>
          </a:xfrm>
          <a:prstGeom prst="rect">
            <a:avLst/>
          </a:prstGeom>
          <a:noFill/>
          <a:ln/>
        </p:spPr>
        <p:txBody>
          <a:bodyPr wrap="square" lIns="0" tIns="0" rIns="0" bIns="0" rtlCol="0" anchor="ctr"/>
          <a:lstStyle/>
          <a:p>
            <a:pPr indent="0" marL="0">
              <a:buNone/>
            </a:pPr>
            <a:r>
              <a:rPr lang="en-US" sz="1200" dirty="0">
                <a:solidFill>
                  <a:schemeClr val="tx2"/>
                </a:solidFill>
              </a:rPr>
              <a:t>train / validation / test split</a:t>
            </a:r>
            <a:endParaRPr lang="en-US" sz="1200" dirty="0"/>
          </a:p>
        </p:txBody>
      </p:sp>
      <p:sp>
        <p:nvSpPr>
          <p:cNvPr id="17" name="kaggle-link"/>
          <p:cNvSpPr txBox="1"/>
          <p:nvPr/>
        </p:nvSpPr>
        <p:spPr>
          <a:xfrm>
            <a:off x="5989320" y="4370832"/>
            <a:ext cx="2697480" cy="274320"/>
          </a:xfrm>
          <a:prstGeom prst="rect">
            <a:avLst/>
          </a:prstGeom>
          <a:noFill/>
          <a:ln/>
        </p:spPr>
        <p:txBody>
          <a:bodyPr wrap="square" lIns="0" tIns="0" rIns="0" bIns="0" rtlCol="0" anchor="ctr"/>
          <a:lstStyle/>
          <a:p>
            <a:pPr indent="0" marL="0">
              <a:buNone/>
            </a:pPr>
            <a:r>
              <a:rPr lang="en-US" sz="1100" u="sng" dirty="0">
                <a:solidFill>
                  <a:schemeClr val="accent3"/>
                </a:solidFill>
                <a:hlinkClick r:id="rId1" invalidUrl="" action="" tgtFrame="" tooltip="https://www.kaggle.com/datasets/oneoneliu/cornell-grasp" history="1" highlightClick="0" endSnd="0">
                  <a:extLst>
                    <a:ext uri="{A12FA001-AC4F-418D-AE19-62706E023703}">
                      <ahyp:hlinkClr xmlns:ahyp="http://schemas.microsoft.com/office/drawing/2018/hyperlinkcolor" val="tx"/>
                    </a:ext>
                  </a:extLst>
                </a:hlinkClick>
              </a:rPr>
              <a:t>Cornell Grasping Dataset (Kaggle copy)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Methodology: from photo to ranked grasps</a:t>
            </a:r>
            <a:endParaRPr lang="en-US" sz="3000" dirty="0"/>
          </a:p>
        </p:txBody>
      </p:sp>
      <p:sp>
        <p:nvSpPr>
          <p:cNvPr id="3" name="step-card-1"/>
          <p:cNvSpPr/>
          <p:nvPr/>
        </p:nvSpPr>
        <p:spPr>
          <a:xfrm>
            <a:off x="457200" y="1234440"/>
            <a:ext cx="1517904" cy="2697480"/>
          </a:xfrm>
          <a:prstGeom prst="roundRect">
            <a:avLst>
              <a:gd name="adj" fmla="val 6024"/>
            </a:avLst>
          </a:prstGeom>
          <a:solidFill>
            <a:schemeClr val="bg2"/>
          </a:solidFill>
          <a:ln/>
        </p:spPr>
      </p:sp>
      <p:sp>
        <p:nvSpPr>
          <p:cNvPr id="4" name="step-circle-1"/>
          <p:cNvSpPr/>
          <p:nvPr/>
        </p:nvSpPr>
        <p:spPr>
          <a:xfrm>
            <a:off x="850392" y="1463040"/>
            <a:ext cx="731520" cy="731520"/>
          </a:xfrm>
          <a:prstGeom prst="ellipse">
            <a:avLst/>
          </a:prstGeom>
          <a:solidFill>
            <a:schemeClr val="accent1"/>
          </a:solidFill>
          <a:ln/>
        </p:spPr>
      </p:sp>
      <p:pic>
        <p:nvPicPr>
          <p:cNvPr id="5" name="step-icon-1" descr="preencoded.png">    </p:cNvPr>
          <p:cNvPicPr>
            <a:picLocks noChangeAspect="1"/>
          </p:cNvPicPr>
          <p:nvPr/>
        </p:nvPicPr>
        <p:blipFill>
          <a:blip r:embed="rId1"/>
          <a:stretch>
            <a:fillRect/>
          </a:stretch>
        </p:blipFill>
        <p:spPr>
          <a:xfrm>
            <a:off x="1014984" y="1627632"/>
            <a:ext cx="402336" cy="402336"/>
          </a:xfrm>
          <a:prstGeom prst="rect">
            <a:avLst/>
          </a:prstGeom>
        </p:spPr>
      </p:pic>
      <p:sp>
        <p:nvSpPr>
          <p:cNvPr id="6" name="step-head-1"/>
          <p:cNvSpPr txBox="1"/>
          <p:nvPr/>
        </p:nvSpPr>
        <p:spPr>
          <a:xfrm>
            <a:off x="548640" y="2377440"/>
            <a:ext cx="1335024" cy="411480"/>
          </a:xfrm>
          <a:prstGeom prst="rect">
            <a:avLst/>
          </a:prstGeom>
          <a:noFill/>
          <a:ln/>
        </p:spPr>
        <p:txBody>
          <a:bodyPr wrap="square" lIns="0" tIns="0" rIns="0" bIns="0" rtlCol="0" anchor="ctr"/>
          <a:lstStyle/>
          <a:p>
            <a:pPr algn="ctr" indent="0" marL="0">
              <a:buNone/>
            </a:pPr>
            <a:r>
              <a:rPr lang="en-US" sz="1500" b="1" dirty="0">
                <a:solidFill>
                  <a:schemeClr val="tx1"/>
                </a:solidFill>
              </a:rPr>
              <a:t>1. Clean data</a:t>
            </a:r>
            <a:endParaRPr lang="en-US" sz="1500" dirty="0"/>
          </a:p>
        </p:txBody>
      </p:sp>
      <p:sp>
        <p:nvSpPr>
          <p:cNvPr id="7" name="step-body-1"/>
          <p:cNvSpPr txBox="1"/>
          <p:nvPr/>
        </p:nvSpPr>
        <p:spPr>
          <a:xfrm>
            <a:off x="566928" y="2834640"/>
            <a:ext cx="1298448" cy="1005840"/>
          </a:xfrm>
          <a:prstGeom prst="rect">
            <a:avLst/>
          </a:prstGeom>
          <a:noFill/>
          <a:ln/>
        </p:spPr>
        <p:txBody>
          <a:bodyPr wrap="square" lIns="0" tIns="0" rIns="0" bIns="0" rtlCol="0" anchor="t"/>
          <a:lstStyle/>
          <a:p>
            <a:pPr algn="ctr" indent="0" marL="0">
              <a:buNone/>
            </a:pPr>
            <a:r>
              <a:rPr lang="en-US" sz="1300" dirty="0">
                <a:solidFill>
                  <a:schemeClr val="tx2"/>
                </a:solidFill>
              </a:rPr>
              <a:t>Parse and validate all labels; split before training</a:t>
            </a:r>
            <a:endParaRPr lang="en-US" sz="1300" dirty="0"/>
          </a:p>
        </p:txBody>
      </p:sp>
      <p:sp>
        <p:nvSpPr>
          <p:cNvPr id="8" name="step-card-2"/>
          <p:cNvSpPr/>
          <p:nvPr/>
        </p:nvSpPr>
        <p:spPr>
          <a:xfrm>
            <a:off x="2130552" y="1234440"/>
            <a:ext cx="1517904" cy="2697480"/>
          </a:xfrm>
          <a:prstGeom prst="roundRect">
            <a:avLst>
              <a:gd name="adj" fmla="val 6024"/>
            </a:avLst>
          </a:prstGeom>
          <a:solidFill>
            <a:schemeClr val="bg2"/>
          </a:solidFill>
          <a:ln/>
        </p:spPr>
      </p:sp>
      <p:sp>
        <p:nvSpPr>
          <p:cNvPr id="9" name="step-circle-2"/>
          <p:cNvSpPr/>
          <p:nvPr/>
        </p:nvSpPr>
        <p:spPr>
          <a:xfrm>
            <a:off x="2523744" y="1463040"/>
            <a:ext cx="731520" cy="731520"/>
          </a:xfrm>
          <a:prstGeom prst="ellipse">
            <a:avLst/>
          </a:prstGeom>
          <a:solidFill>
            <a:schemeClr val="accent1"/>
          </a:solidFill>
          <a:ln/>
        </p:spPr>
      </p:sp>
      <p:pic>
        <p:nvPicPr>
          <p:cNvPr id="10" name="step-icon-2" descr="preencoded.png">    </p:cNvPr>
          <p:cNvPicPr>
            <a:picLocks noChangeAspect="1"/>
          </p:cNvPicPr>
          <p:nvPr/>
        </p:nvPicPr>
        <p:blipFill>
          <a:blip r:embed="rId2"/>
          <a:stretch>
            <a:fillRect/>
          </a:stretch>
        </p:blipFill>
        <p:spPr>
          <a:xfrm>
            <a:off x="2688336" y="1627632"/>
            <a:ext cx="402336" cy="402336"/>
          </a:xfrm>
          <a:prstGeom prst="rect">
            <a:avLst/>
          </a:prstGeom>
        </p:spPr>
      </p:pic>
      <p:sp>
        <p:nvSpPr>
          <p:cNvPr id="11" name="step-head-2"/>
          <p:cNvSpPr txBox="1"/>
          <p:nvPr/>
        </p:nvSpPr>
        <p:spPr>
          <a:xfrm>
            <a:off x="2221992" y="2377440"/>
            <a:ext cx="1335024" cy="411480"/>
          </a:xfrm>
          <a:prstGeom prst="rect">
            <a:avLst/>
          </a:prstGeom>
          <a:noFill/>
          <a:ln/>
        </p:spPr>
        <p:txBody>
          <a:bodyPr wrap="square" lIns="0" tIns="0" rIns="0" bIns="0" rtlCol="0" anchor="ctr"/>
          <a:lstStyle/>
          <a:p>
            <a:pPr algn="ctr" indent="0" marL="0">
              <a:buNone/>
            </a:pPr>
            <a:r>
              <a:rPr lang="en-US" sz="1500" b="1" dirty="0">
                <a:solidFill>
                  <a:schemeClr val="tx1"/>
                </a:solidFill>
              </a:rPr>
              <a:t>2. Prepare</a:t>
            </a:r>
            <a:endParaRPr lang="en-US" sz="1500" dirty="0"/>
          </a:p>
        </p:txBody>
      </p:sp>
      <p:sp>
        <p:nvSpPr>
          <p:cNvPr id="12" name="step-body-2"/>
          <p:cNvSpPr txBox="1"/>
          <p:nvPr/>
        </p:nvSpPr>
        <p:spPr>
          <a:xfrm>
            <a:off x="2240280" y="2834640"/>
            <a:ext cx="1298448" cy="1005840"/>
          </a:xfrm>
          <a:prstGeom prst="rect">
            <a:avLst/>
          </a:prstGeom>
          <a:noFill/>
          <a:ln/>
        </p:spPr>
        <p:txBody>
          <a:bodyPr wrap="square" lIns="0" tIns="0" rIns="0" bIns="0" rtlCol="0" anchor="t"/>
          <a:lstStyle/>
          <a:p>
            <a:pPr algn="ctr" indent="0" marL="0">
              <a:buNone/>
            </a:pPr>
            <a:r>
              <a:rPr lang="en-US" sz="1300" dirty="0">
                <a:solidFill>
                  <a:schemeClr val="tx2"/>
                </a:solidFill>
              </a:rPr>
              <a:t>Crop to 224×224 RGB-D; random rotate, zoom and flip</a:t>
            </a:r>
            <a:endParaRPr lang="en-US" sz="1300" dirty="0"/>
          </a:p>
        </p:txBody>
      </p:sp>
      <p:sp>
        <p:nvSpPr>
          <p:cNvPr id="13" name="step-card-3"/>
          <p:cNvSpPr/>
          <p:nvPr/>
        </p:nvSpPr>
        <p:spPr>
          <a:xfrm>
            <a:off x="3803904" y="1234440"/>
            <a:ext cx="1517904" cy="2697480"/>
          </a:xfrm>
          <a:prstGeom prst="roundRect">
            <a:avLst>
              <a:gd name="adj" fmla="val 6024"/>
            </a:avLst>
          </a:prstGeom>
          <a:solidFill>
            <a:schemeClr val="bg2"/>
          </a:solidFill>
          <a:ln/>
        </p:spPr>
      </p:sp>
      <p:sp>
        <p:nvSpPr>
          <p:cNvPr id="14" name="step-circle-3"/>
          <p:cNvSpPr/>
          <p:nvPr/>
        </p:nvSpPr>
        <p:spPr>
          <a:xfrm>
            <a:off x="4197096" y="1463040"/>
            <a:ext cx="731520" cy="731520"/>
          </a:xfrm>
          <a:prstGeom prst="ellipse">
            <a:avLst/>
          </a:prstGeom>
          <a:solidFill>
            <a:schemeClr val="accent1"/>
          </a:solidFill>
          <a:ln/>
        </p:spPr>
      </p:sp>
      <p:pic>
        <p:nvPicPr>
          <p:cNvPr id="15" name="step-icon-3" descr="preencoded.png">    </p:cNvPr>
          <p:cNvPicPr>
            <a:picLocks noChangeAspect="1"/>
          </p:cNvPicPr>
          <p:nvPr/>
        </p:nvPicPr>
        <p:blipFill>
          <a:blip r:embed="rId3"/>
          <a:stretch>
            <a:fillRect/>
          </a:stretch>
        </p:blipFill>
        <p:spPr>
          <a:xfrm>
            <a:off x="4361688" y="1627632"/>
            <a:ext cx="402336" cy="402336"/>
          </a:xfrm>
          <a:prstGeom prst="rect">
            <a:avLst/>
          </a:prstGeom>
        </p:spPr>
      </p:pic>
      <p:sp>
        <p:nvSpPr>
          <p:cNvPr id="16" name="step-head-3"/>
          <p:cNvSpPr txBox="1"/>
          <p:nvPr/>
        </p:nvSpPr>
        <p:spPr>
          <a:xfrm>
            <a:off x="3895344" y="2377440"/>
            <a:ext cx="1335024" cy="411480"/>
          </a:xfrm>
          <a:prstGeom prst="rect">
            <a:avLst/>
          </a:prstGeom>
          <a:noFill/>
          <a:ln/>
        </p:spPr>
        <p:txBody>
          <a:bodyPr wrap="square" lIns="0" tIns="0" rIns="0" bIns="0" rtlCol="0" anchor="ctr"/>
          <a:lstStyle/>
          <a:p>
            <a:pPr algn="ctr" indent="0" marL="0">
              <a:buNone/>
            </a:pPr>
            <a:r>
              <a:rPr lang="en-US" sz="1500" b="1" dirty="0">
                <a:solidFill>
                  <a:schemeClr val="tx1"/>
                </a:solidFill>
              </a:rPr>
              <a:t>3. Predict</a:t>
            </a:r>
            <a:endParaRPr lang="en-US" sz="1500" dirty="0"/>
          </a:p>
        </p:txBody>
      </p:sp>
      <p:sp>
        <p:nvSpPr>
          <p:cNvPr id="17" name="step-body-3"/>
          <p:cNvSpPr txBox="1"/>
          <p:nvPr/>
        </p:nvSpPr>
        <p:spPr>
          <a:xfrm>
            <a:off x="3913632" y="2834640"/>
            <a:ext cx="1298448" cy="1005840"/>
          </a:xfrm>
          <a:prstGeom prst="rect">
            <a:avLst/>
          </a:prstGeom>
          <a:noFill/>
          <a:ln/>
        </p:spPr>
        <p:txBody>
          <a:bodyPr wrap="square" lIns="0" tIns="0" rIns="0" bIns="0" rtlCol="0" anchor="t"/>
          <a:lstStyle/>
          <a:p>
            <a:pPr algn="ctr" indent="0" marL="0">
              <a:buNone/>
            </a:pPr>
            <a:r>
              <a:rPr lang="en-US" sz="1300" dirty="0">
                <a:solidFill>
                  <a:schemeClr val="tx2"/>
                </a:solidFill>
              </a:rPr>
              <a:t>CNN scores every pixel: quality, angle, width</a:t>
            </a:r>
            <a:endParaRPr lang="en-US" sz="1300" dirty="0"/>
          </a:p>
        </p:txBody>
      </p:sp>
      <p:sp>
        <p:nvSpPr>
          <p:cNvPr id="18" name="step-card-4"/>
          <p:cNvSpPr/>
          <p:nvPr/>
        </p:nvSpPr>
        <p:spPr>
          <a:xfrm>
            <a:off x="5477256" y="1234440"/>
            <a:ext cx="1517904" cy="2697480"/>
          </a:xfrm>
          <a:prstGeom prst="roundRect">
            <a:avLst>
              <a:gd name="adj" fmla="val 6024"/>
            </a:avLst>
          </a:prstGeom>
          <a:solidFill>
            <a:schemeClr val="bg2"/>
          </a:solidFill>
          <a:ln/>
        </p:spPr>
      </p:sp>
      <p:sp>
        <p:nvSpPr>
          <p:cNvPr id="19" name="step-circle-4"/>
          <p:cNvSpPr/>
          <p:nvPr/>
        </p:nvSpPr>
        <p:spPr>
          <a:xfrm>
            <a:off x="5870448" y="1463040"/>
            <a:ext cx="731520" cy="731520"/>
          </a:xfrm>
          <a:prstGeom prst="ellipse">
            <a:avLst/>
          </a:prstGeom>
          <a:solidFill>
            <a:schemeClr val="accent1"/>
          </a:solidFill>
          <a:ln/>
        </p:spPr>
      </p:sp>
      <p:pic>
        <p:nvPicPr>
          <p:cNvPr id="20" name="step-icon-4" descr="preencoded.png">    </p:cNvPr>
          <p:cNvPicPr>
            <a:picLocks noChangeAspect="1"/>
          </p:cNvPicPr>
          <p:nvPr/>
        </p:nvPicPr>
        <p:blipFill>
          <a:blip r:embed="rId4"/>
          <a:stretch>
            <a:fillRect/>
          </a:stretch>
        </p:blipFill>
        <p:spPr>
          <a:xfrm>
            <a:off x="6035040" y="1627632"/>
            <a:ext cx="402336" cy="402336"/>
          </a:xfrm>
          <a:prstGeom prst="rect">
            <a:avLst/>
          </a:prstGeom>
        </p:spPr>
      </p:pic>
      <p:sp>
        <p:nvSpPr>
          <p:cNvPr id="21" name="step-head-4"/>
          <p:cNvSpPr txBox="1"/>
          <p:nvPr/>
        </p:nvSpPr>
        <p:spPr>
          <a:xfrm>
            <a:off x="5568696" y="2377440"/>
            <a:ext cx="1335024" cy="411480"/>
          </a:xfrm>
          <a:prstGeom prst="rect">
            <a:avLst/>
          </a:prstGeom>
          <a:noFill/>
          <a:ln/>
        </p:spPr>
        <p:txBody>
          <a:bodyPr wrap="square" lIns="0" tIns="0" rIns="0" bIns="0" rtlCol="0" anchor="ctr"/>
          <a:lstStyle/>
          <a:p>
            <a:pPr algn="ctr" indent="0" marL="0">
              <a:buNone/>
            </a:pPr>
            <a:r>
              <a:rPr lang="en-US" sz="1500" b="1" dirty="0">
                <a:solidFill>
                  <a:schemeClr val="tx1"/>
                </a:solidFill>
              </a:rPr>
              <a:t>4. Pick</a:t>
            </a:r>
            <a:endParaRPr lang="en-US" sz="1500" dirty="0"/>
          </a:p>
        </p:txBody>
      </p:sp>
      <p:sp>
        <p:nvSpPr>
          <p:cNvPr id="22" name="step-body-4"/>
          <p:cNvSpPr txBox="1"/>
          <p:nvPr/>
        </p:nvSpPr>
        <p:spPr>
          <a:xfrm>
            <a:off x="5586984" y="2834640"/>
            <a:ext cx="1298448" cy="1005840"/>
          </a:xfrm>
          <a:prstGeom prst="rect">
            <a:avLst/>
          </a:prstGeom>
          <a:noFill/>
          <a:ln/>
        </p:spPr>
        <p:txBody>
          <a:bodyPr wrap="square" lIns="0" tIns="0" rIns="0" bIns="0" rtlCol="0" anchor="t"/>
          <a:lstStyle/>
          <a:p>
            <a:pPr algn="ctr" indent="0" marL="0">
              <a:buNone/>
            </a:pPr>
            <a:r>
              <a:rPr lang="en-US" sz="1300" dirty="0">
                <a:solidFill>
                  <a:schemeClr val="tx2"/>
                </a:solidFill>
              </a:rPr>
              <a:t>Find peaks, drop duplicates, rank by score</a:t>
            </a:r>
            <a:endParaRPr lang="en-US" sz="1300" dirty="0"/>
          </a:p>
        </p:txBody>
      </p:sp>
      <p:sp>
        <p:nvSpPr>
          <p:cNvPr id="23" name="step-card-5"/>
          <p:cNvSpPr/>
          <p:nvPr/>
        </p:nvSpPr>
        <p:spPr>
          <a:xfrm>
            <a:off x="7150608" y="1234440"/>
            <a:ext cx="1517904" cy="2697480"/>
          </a:xfrm>
          <a:prstGeom prst="roundRect">
            <a:avLst>
              <a:gd name="adj" fmla="val 6024"/>
            </a:avLst>
          </a:prstGeom>
          <a:solidFill>
            <a:schemeClr val="bg2"/>
          </a:solidFill>
          <a:ln/>
        </p:spPr>
      </p:sp>
      <p:sp>
        <p:nvSpPr>
          <p:cNvPr id="24" name="step-circle-5"/>
          <p:cNvSpPr/>
          <p:nvPr/>
        </p:nvSpPr>
        <p:spPr>
          <a:xfrm>
            <a:off x="7543800" y="1463040"/>
            <a:ext cx="731520" cy="731520"/>
          </a:xfrm>
          <a:prstGeom prst="ellipse">
            <a:avLst/>
          </a:prstGeom>
          <a:solidFill>
            <a:schemeClr val="accent1"/>
          </a:solidFill>
          <a:ln/>
        </p:spPr>
      </p:sp>
      <p:pic>
        <p:nvPicPr>
          <p:cNvPr id="25" name="step-icon-5" descr="preencoded.png">    </p:cNvPr>
          <p:cNvPicPr>
            <a:picLocks noChangeAspect="1"/>
          </p:cNvPicPr>
          <p:nvPr/>
        </p:nvPicPr>
        <p:blipFill>
          <a:blip r:embed="rId5"/>
          <a:stretch>
            <a:fillRect/>
          </a:stretch>
        </p:blipFill>
        <p:spPr>
          <a:xfrm>
            <a:off x="7708392" y="1627632"/>
            <a:ext cx="402336" cy="402336"/>
          </a:xfrm>
          <a:prstGeom prst="rect">
            <a:avLst/>
          </a:prstGeom>
        </p:spPr>
      </p:pic>
      <p:sp>
        <p:nvSpPr>
          <p:cNvPr id="26" name="step-head-5"/>
          <p:cNvSpPr txBox="1"/>
          <p:nvPr/>
        </p:nvSpPr>
        <p:spPr>
          <a:xfrm>
            <a:off x="7242048" y="2377440"/>
            <a:ext cx="1335024" cy="411480"/>
          </a:xfrm>
          <a:prstGeom prst="rect">
            <a:avLst/>
          </a:prstGeom>
          <a:noFill/>
          <a:ln/>
        </p:spPr>
        <p:txBody>
          <a:bodyPr wrap="square" lIns="0" tIns="0" rIns="0" bIns="0" rtlCol="0" anchor="ctr"/>
          <a:lstStyle/>
          <a:p>
            <a:pPr algn="ctr" indent="0" marL="0">
              <a:buNone/>
            </a:pPr>
            <a:r>
              <a:rPr lang="en-US" sz="1500" b="1" dirty="0">
                <a:solidFill>
                  <a:schemeClr val="tx1"/>
                </a:solidFill>
              </a:rPr>
              <a:t>5. Evaluate</a:t>
            </a:r>
            <a:endParaRPr lang="en-US" sz="1500" dirty="0"/>
          </a:p>
        </p:txBody>
      </p:sp>
      <p:sp>
        <p:nvSpPr>
          <p:cNvPr id="27" name="step-body-5"/>
          <p:cNvSpPr txBox="1"/>
          <p:nvPr/>
        </p:nvSpPr>
        <p:spPr>
          <a:xfrm>
            <a:off x="7260336" y="2834640"/>
            <a:ext cx="1298448" cy="1005840"/>
          </a:xfrm>
          <a:prstGeom prst="rect">
            <a:avLst/>
          </a:prstGeom>
          <a:noFill/>
          <a:ln/>
        </p:spPr>
        <p:txBody>
          <a:bodyPr wrap="square" lIns="0" tIns="0" rIns="0" bIns="0" rtlCol="0" anchor="t"/>
          <a:lstStyle/>
          <a:p>
            <a:pPr algn="ctr" indent="0" marL="0">
              <a:buNone/>
            </a:pPr>
            <a:r>
              <a:rPr lang="en-US" sz="1300" dirty="0">
                <a:solidFill>
                  <a:schemeClr val="tx2"/>
                </a:solidFill>
              </a:rPr>
              <a:t>Overlap &gt; 25% and angle &lt; 30° vs labels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Two models, one fair training recipe</a:t>
            </a:r>
            <a:endParaRPr lang="en-US" sz="3000" dirty="0"/>
          </a:p>
        </p:txBody>
      </p:sp>
      <p:sp>
        <p:nvSpPr>
          <p:cNvPr id="3" name="model-card-ggcnn"/>
          <p:cNvSpPr/>
          <p:nvPr/>
        </p:nvSpPr>
        <p:spPr>
          <a:xfrm>
            <a:off x="457200" y="1143000"/>
            <a:ext cx="3291840" cy="1325880"/>
          </a:xfrm>
          <a:prstGeom prst="roundRect">
            <a:avLst>
              <a:gd name="adj" fmla="val 6897"/>
            </a:avLst>
          </a:prstGeom>
          <a:solidFill>
            <a:schemeClr val="bg2"/>
          </a:solidFill>
          <a:ln/>
        </p:spPr>
      </p:sp>
      <p:sp>
        <p:nvSpPr>
          <p:cNvPr id="4" name="model-name-ggcnn"/>
          <p:cNvSpPr txBox="1"/>
          <p:nvPr/>
        </p:nvSpPr>
        <p:spPr>
          <a:xfrm>
            <a:off x="640080" y="1280160"/>
            <a:ext cx="1645920" cy="365760"/>
          </a:xfrm>
          <a:prstGeom prst="rect">
            <a:avLst/>
          </a:prstGeom>
          <a:noFill/>
          <a:ln/>
        </p:spPr>
        <p:txBody>
          <a:bodyPr wrap="square" lIns="0" tIns="0" rIns="0" bIns="0" rtlCol="0" anchor="ctr"/>
          <a:lstStyle/>
          <a:p>
            <a:pPr indent="0" marL="0">
              <a:buNone/>
            </a:pPr>
            <a:r>
              <a:rPr lang="en-US" sz="1800" b="1" dirty="0">
                <a:solidFill>
                  <a:schemeClr val="tx1"/>
                </a:solidFill>
              </a:rPr>
              <a:t>GG-CNN</a:t>
            </a:r>
            <a:endParaRPr lang="en-US" sz="1800" dirty="0"/>
          </a:p>
        </p:txBody>
      </p:sp>
      <p:sp>
        <p:nvSpPr>
          <p:cNvPr id="5" name="model-params-ggcnn"/>
          <p:cNvSpPr txBox="1"/>
          <p:nvPr/>
        </p:nvSpPr>
        <p:spPr>
          <a:xfrm>
            <a:off x="2240280" y="1280160"/>
            <a:ext cx="1371600" cy="365760"/>
          </a:xfrm>
          <a:prstGeom prst="rect">
            <a:avLst/>
          </a:prstGeom>
          <a:noFill/>
          <a:ln/>
        </p:spPr>
        <p:txBody>
          <a:bodyPr wrap="square" lIns="0" tIns="0" rIns="0" bIns="0" rtlCol="0" anchor="ctr"/>
          <a:lstStyle/>
          <a:p>
            <a:pPr algn="r" indent="0" marL="0">
              <a:buNone/>
            </a:pPr>
            <a:r>
              <a:rPr lang="en-US" sz="1600" b="1" dirty="0">
                <a:solidFill>
                  <a:schemeClr val="accent3"/>
                </a:solidFill>
              </a:rPr>
              <a:t>70K params</a:t>
            </a:r>
            <a:endParaRPr lang="en-US" sz="1600" dirty="0"/>
          </a:p>
        </p:txBody>
      </p:sp>
      <p:sp>
        <p:nvSpPr>
          <p:cNvPr id="6" name="model-desc-ggcnn"/>
          <p:cNvSpPr txBox="1"/>
          <p:nvPr/>
        </p:nvSpPr>
        <p:spPr>
          <a:xfrm>
            <a:off x="640080" y="1737360"/>
            <a:ext cx="2971800" cy="777240"/>
          </a:xfrm>
          <a:prstGeom prst="rect">
            <a:avLst/>
          </a:prstGeom>
          <a:noFill/>
          <a:ln/>
        </p:spPr>
        <p:txBody>
          <a:bodyPr wrap="square" lIns="0" tIns="0" rIns="0" bIns="0" rtlCol="0" anchor="t"/>
          <a:lstStyle/>
          <a:p>
            <a:pPr indent="0" marL="0">
              <a:buNone/>
            </a:pPr>
            <a:r>
              <a:rPr lang="en-US" sz="1300" dirty="0">
                <a:solidFill>
                  <a:schemeClr val="tx2"/>
                </a:solidFill>
              </a:rPr>
              <a:t>Baseline: tiny, fast, 3 conv layers (Morrison et al., 2018)</a:t>
            </a:r>
            <a:endParaRPr lang="en-US" sz="1300" dirty="0"/>
          </a:p>
        </p:txBody>
      </p:sp>
      <p:sp>
        <p:nvSpPr>
          <p:cNvPr id="7" name="model-card-grconvnet"/>
          <p:cNvSpPr/>
          <p:nvPr/>
        </p:nvSpPr>
        <p:spPr>
          <a:xfrm>
            <a:off x="457200" y="2697480"/>
            <a:ext cx="3291840" cy="1325880"/>
          </a:xfrm>
          <a:prstGeom prst="roundRect">
            <a:avLst>
              <a:gd name="adj" fmla="val 6897"/>
            </a:avLst>
          </a:prstGeom>
          <a:solidFill>
            <a:schemeClr val="bg2"/>
          </a:solidFill>
          <a:ln/>
        </p:spPr>
      </p:sp>
      <p:sp>
        <p:nvSpPr>
          <p:cNvPr id="8" name="model-name-grconvnet"/>
          <p:cNvSpPr txBox="1"/>
          <p:nvPr/>
        </p:nvSpPr>
        <p:spPr>
          <a:xfrm>
            <a:off x="640080" y="2834640"/>
            <a:ext cx="1645920" cy="365760"/>
          </a:xfrm>
          <a:prstGeom prst="rect">
            <a:avLst/>
          </a:prstGeom>
          <a:noFill/>
          <a:ln/>
        </p:spPr>
        <p:txBody>
          <a:bodyPr wrap="square" lIns="0" tIns="0" rIns="0" bIns="0" rtlCol="0" anchor="ctr"/>
          <a:lstStyle/>
          <a:p>
            <a:pPr indent="0" marL="0">
              <a:buNone/>
            </a:pPr>
            <a:r>
              <a:rPr lang="en-US" sz="1800" b="1" dirty="0">
                <a:solidFill>
                  <a:schemeClr val="tx1"/>
                </a:solidFill>
              </a:rPr>
              <a:t>GR-ConvNet</a:t>
            </a:r>
            <a:endParaRPr lang="en-US" sz="1800" dirty="0"/>
          </a:p>
        </p:txBody>
      </p:sp>
      <p:sp>
        <p:nvSpPr>
          <p:cNvPr id="9" name="model-params-grconvnet"/>
          <p:cNvSpPr txBox="1"/>
          <p:nvPr/>
        </p:nvSpPr>
        <p:spPr>
          <a:xfrm>
            <a:off x="2240280" y="2834640"/>
            <a:ext cx="1371600" cy="365760"/>
          </a:xfrm>
          <a:prstGeom prst="rect">
            <a:avLst/>
          </a:prstGeom>
          <a:noFill/>
          <a:ln/>
        </p:spPr>
        <p:txBody>
          <a:bodyPr wrap="square" lIns="0" tIns="0" rIns="0" bIns="0" rtlCol="0" anchor="ctr"/>
          <a:lstStyle/>
          <a:p>
            <a:pPr algn="r" indent="0" marL="0">
              <a:buNone/>
            </a:pPr>
            <a:r>
              <a:rPr lang="en-US" sz="1600" b="1" dirty="0">
                <a:solidFill>
                  <a:schemeClr val="accent1"/>
                </a:solidFill>
              </a:rPr>
              <a:t>1.9M params</a:t>
            </a:r>
            <a:endParaRPr lang="en-US" sz="1600" dirty="0"/>
          </a:p>
        </p:txBody>
      </p:sp>
      <p:sp>
        <p:nvSpPr>
          <p:cNvPr id="10" name="model-desc-grconvnet"/>
          <p:cNvSpPr txBox="1"/>
          <p:nvPr/>
        </p:nvSpPr>
        <p:spPr>
          <a:xfrm>
            <a:off x="640080" y="3291840"/>
            <a:ext cx="2971800" cy="777240"/>
          </a:xfrm>
          <a:prstGeom prst="rect">
            <a:avLst/>
          </a:prstGeom>
          <a:noFill/>
          <a:ln/>
        </p:spPr>
        <p:txBody>
          <a:bodyPr wrap="square" lIns="0" tIns="0" rIns="0" bIns="0" rtlCol="0" anchor="t"/>
          <a:lstStyle/>
          <a:p>
            <a:pPr indent="0" marL="0">
              <a:buNone/>
            </a:pPr>
            <a:r>
              <a:rPr lang="en-US" sz="1300" dirty="0">
                <a:solidFill>
                  <a:schemeClr val="tx2"/>
                </a:solidFill>
              </a:rPr>
              <a:t>Main model: residual encoder–decoder (Kumra et al., 2020)</a:t>
            </a:r>
            <a:endParaRPr lang="en-US" sz="1300" dirty="0"/>
          </a:p>
        </p:txBody>
      </p:sp>
      <p:sp>
        <p:nvSpPr>
          <p:cNvPr id="11" name="why-circle-1"/>
          <p:cNvSpPr/>
          <p:nvPr/>
        </p:nvSpPr>
        <p:spPr>
          <a:xfrm>
            <a:off x="4114800" y="1197864"/>
            <a:ext cx="420624" cy="420624"/>
          </a:xfrm>
          <a:prstGeom prst="ellipse">
            <a:avLst/>
          </a:prstGeom>
          <a:solidFill>
            <a:schemeClr val="accent2"/>
          </a:solidFill>
          <a:ln/>
        </p:spPr>
      </p:sp>
      <p:pic>
        <p:nvPicPr>
          <p:cNvPr id="12" name="why-icon-1" descr="preencoded.png">    </p:cNvPr>
          <p:cNvPicPr>
            <a:picLocks noChangeAspect="1"/>
          </p:cNvPicPr>
          <p:nvPr/>
        </p:nvPicPr>
        <p:blipFill>
          <a:blip r:embed="rId1"/>
          <a:stretch>
            <a:fillRect/>
          </a:stretch>
        </p:blipFill>
        <p:spPr>
          <a:xfrm>
            <a:off x="4215384" y="1298448"/>
            <a:ext cx="219456" cy="219456"/>
          </a:xfrm>
          <a:prstGeom prst="rect">
            <a:avLst/>
          </a:prstGeom>
        </p:spPr>
      </p:pic>
      <p:sp>
        <p:nvSpPr>
          <p:cNvPr id="13" name="why-text-1"/>
          <p:cNvSpPr txBox="1"/>
          <p:nvPr/>
        </p:nvSpPr>
        <p:spPr>
          <a:xfrm>
            <a:off x="4681728" y="1143000"/>
            <a:ext cx="4023360" cy="548640"/>
          </a:xfrm>
          <a:prstGeom prst="rect">
            <a:avLst/>
          </a:prstGeom>
          <a:noFill/>
          <a:ln/>
        </p:spPr>
        <p:txBody>
          <a:bodyPr wrap="square" lIns="0" tIns="0" rIns="0" bIns="0" rtlCol="0" anchor="ctr"/>
          <a:lstStyle/>
          <a:p>
            <a:pPr indent="0" marL="0">
              <a:buNone/>
            </a:pPr>
            <a:r>
              <a:rPr lang="en-US" sz="1400" b="1" dirty="0">
                <a:solidFill>
                  <a:schemeClr val="tx1"/>
                </a:solidFill>
              </a:rPr>
              <a:t>Heavy augmentation + early stopping</a:t>
            </a:r>
            <a:endParaRPr lang="en-US" sz="1400" dirty="0"/>
          </a:p>
          <a:p>
            <a:pPr indent="0" marL="0">
              <a:buNone/>
            </a:pPr>
            <a:r>
              <a:rPr lang="en-US" sz="1200" dirty="0">
                <a:solidFill>
                  <a:schemeClr val="tx2"/>
                </a:solidFill>
              </a:rPr>
              <a:t>only 620 training images, so avoid memorising them</a:t>
            </a:r>
            <a:endParaRPr lang="en-US" sz="1400" dirty="0"/>
          </a:p>
        </p:txBody>
      </p:sp>
      <p:sp>
        <p:nvSpPr>
          <p:cNvPr id="14" name="why-circle-2"/>
          <p:cNvSpPr/>
          <p:nvPr/>
        </p:nvSpPr>
        <p:spPr>
          <a:xfrm>
            <a:off x="4114800" y="1819656"/>
            <a:ext cx="420624" cy="420624"/>
          </a:xfrm>
          <a:prstGeom prst="ellipse">
            <a:avLst/>
          </a:prstGeom>
          <a:solidFill>
            <a:schemeClr val="accent2"/>
          </a:solidFill>
          <a:ln/>
        </p:spPr>
      </p:sp>
      <p:pic>
        <p:nvPicPr>
          <p:cNvPr id="15" name="why-icon-2" descr="preencoded.png">    </p:cNvPr>
          <p:cNvPicPr>
            <a:picLocks noChangeAspect="1"/>
          </p:cNvPicPr>
          <p:nvPr/>
        </p:nvPicPr>
        <p:blipFill>
          <a:blip r:embed="rId2"/>
          <a:stretch>
            <a:fillRect/>
          </a:stretch>
        </p:blipFill>
        <p:spPr>
          <a:xfrm>
            <a:off x="4215384" y="1920240"/>
            <a:ext cx="219456" cy="219456"/>
          </a:xfrm>
          <a:prstGeom prst="rect">
            <a:avLst/>
          </a:prstGeom>
        </p:spPr>
      </p:pic>
      <p:sp>
        <p:nvSpPr>
          <p:cNvPr id="16" name="why-text-2"/>
          <p:cNvSpPr txBox="1"/>
          <p:nvPr/>
        </p:nvSpPr>
        <p:spPr>
          <a:xfrm>
            <a:off x="4681728" y="1764792"/>
            <a:ext cx="4023360" cy="548640"/>
          </a:xfrm>
          <a:prstGeom prst="rect">
            <a:avLst/>
          </a:prstGeom>
          <a:noFill/>
          <a:ln/>
        </p:spPr>
        <p:txBody>
          <a:bodyPr wrap="square" lIns="0" tIns="0" rIns="0" bIns="0" rtlCol="0" anchor="ctr"/>
          <a:lstStyle/>
          <a:p>
            <a:pPr indent="0" marL="0">
              <a:buNone/>
            </a:pPr>
            <a:r>
              <a:rPr lang="en-US" sz="1400" b="1" dirty="0">
                <a:solidFill>
                  <a:schemeClr val="tx1"/>
                </a:solidFill>
              </a:rPr>
              <a:t>Angle as cos 2θ and sin 2θ</a:t>
            </a:r>
            <a:endParaRPr lang="en-US" sz="1400" dirty="0"/>
          </a:p>
          <a:p>
            <a:pPr indent="0" marL="0">
              <a:buNone/>
            </a:pPr>
            <a:r>
              <a:rPr lang="en-US" sz="1200" dirty="0">
                <a:solidFill>
                  <a:schemeClr val="tx2"/>
                </a:solidFill>
              </a:rPr>
              <a:t>a grasp turned 180° is the same grasp</a:t>
            </a:r>
            <a:endParaRPr lang="en-US" sz="1400" dirty="0"/>
          </a:p>
        </p:txBody>
      </p:sp>
      <p:sp>
        <p:nvSpPr>
          <p:cNvPr id="17" name="why-circle-3"/>
          <p:cNvSpPr/>
          <p:nvPr/>
        </p:nvSpPr>
        <p:spPr>
          <a:xfrm>
            <a:off x="4114800" y="2441448"/>
            <a:ext cx="420624" cy="420624"/>
          </a:xfrm>
          <a:prstGeom prst="ellipse">
            <a:avLst/>
          </a:prstGeom>
          <a:solidFill>
            <a:schemeClr val="accent2"/>
          </a:solidFill>
          <a:ln/>
        </p:spPr>
      </p:sp>
      <p:pic>
        <p:nvPicPr>
          <p:cNvPr id="18" name="why-icon-3" descr="preencoded.png">    </p:cNvPr>
          <p:cNvPicPr>
            <a:picLocks noChangeAspect="1"/>
          </p:cNvPicPr>
          <p:nvPr/>
        </p:nvPicPr>
        <p:blipFill>
          <a:blip r:embed="rId3"/>
          <a:stretch>
            <a:fillRect/>
          </a:stretch>
        </p:blipFill>
        <p:spPr>
          <a:xfrm>
            <a:off x="4215384" y="2542032"/>
            <a:ext cx="219456" cy="219456"/>
          </a:xfrm>
          <a:prstGeom prst="rect">
            <a:avLst/>
          </a:prstGeom>
        </p:spPr>
      </p:pic>
      <p:sp>
        <p:nvSpPr>
          <p:cNvPr id="19" name="why-text-3"/>
          <p:cNvSpPr txBox="1"/>
          <p:nvPr/>
        </p:nvSpPr>
        <p:spPr>
          <a:xfrm>
            <a:off x="4681728" y="2386584"/>
            <a:ext cx="4023360" cy="548640"/>
          </a:xfrm>
          <a:prstGeom prst="rect">
            <a:avLst/>
          </a:prstGeom>
          <a:noFill/>
          <a:ln/>
        </p:spPr>
        <p:txBody>
          <a:bodyPr wrap="square" lIns="0" tIns="0" rIns="0" bIns="0" rtlCol="0" anchor="ctr"/>
          <a:lstStyle/>
          <a:p>
            <a:pPr indent="0" marL="0">
              <a:buNone/>
            </a:pPr>
            <a:r>
              <a:rPr lang="en-US" sz="1400" b="1" dirty="0">
                <a:solidFill>
                  <a:schemeClr val="tx1"/>
                </a:solidFill>
              </a:rPr>
              <a:t>Smooth-L1 loss</a:t>
            </a:r>
            <a:endParaRPr lang="en-US" sz="1400" dirty="0"/>
          </a:p>
          <a:p>
            <a:pPr indent="0" marL="0">
              <a:buNone/>
            </a:pPr>
            <a:r>
              <a:rPr lang="en-US" sz="1200" dirty="0">
                <a:solidFill>
                  <a:schemeClr val="tx2"/>
                </a:solidFill>
              </a:rPr>
              <a:t>robust to noisy hand-drawn labels</a:t>
            </a:r>
            <a:endParaRPr lang="en-US" sz="1400" dirty="0"/>
          </a:p>
        </p:txBody>
      </p:sp>
      <p:sp>
        <p:nvSpPr>
          <p:cNvPr id="20" name="why-circle-4"/>
          <p:cNvSpPr/>
          <p:nvPr/>
        </p:nvSpPr>
        <p:spPr>
          <a:xfrm>
            <a:off x="4114800" y="3063240"/>
            <a:ext cx="420624" cy="420624"/>
          </a:xfrm>
          <a:prstGeom prst="ellipse">
            <a:avLst/>
          </a:prstGeom>
          <a:solidFill>
            <a:schemeClr val="accent2"/>
          </a:solidFill>
          <a:ln/>
        </p:spPr>
      </p:sp>
      <p:pic>
        <p:nvPicPr>
          <p:cNvPr id="21" name="why-icon-4" descr="preencoded.png">    </p:cNvPr>
          <p:cNvPicPr>
            <a:picLocks noChangeAspect="1"/>
          </p:cNvPicPr>
          <p:nvPr/>
        </p:nvPicPr>
        <p:blipFill>
          <a:blip r:embed="rId4"/>
          <a:stretch>
            <a:fillRect/>
          </a:stretch>
        </p:blipFill>
        <p:spPr>
          <a:xfrm>
            <a:off x="4215384" y="3163824"/>
            <a:ext cx="219456" cy="219456"/>
          </a:xfrm>
          <a:prstGeom prst="rect">
            <a:avLst/>
          </a:prstGeom>
        </p:spPr>
      </p:pic>
      <p:sp>
        <p:nvSpPr>
          <p:cNvPr id="22" name="why-text-4"/>
          <p:cNvSpPr txBox="1"/>
          <p:nvPr/>
        </p:nvSpPr>
        <p:spPr>
          <a:xfrm>
            <a:off x="4681728" y="3008376"/>
            <a:ext cx="4023360" cy="548640"/>
          </a:xfrm>
          <a:prstGeom prst="rect">
            <a:avLst/>
          </a:prstGeom>
          <a:noFill/>
          <a:ln/>
        </p:spPr>
        <p:txBody>
          <a:bodyPr wrap="square" lIns="0" tIns="0" rIns="0" bIns="0" rtlCol="0" anchor="ctr"/>
          <a:lstStyle/>
          <a:p>
            <a:pPr indent="0" marL="0">
              <a:buNone/>
            </a:pPr>
            <a:r>
              <a:rPr lang="en-US" sz="1400" b="1" dirty="0">
                <a:solidFill>
                  <a:schemeClr val="tx1"/>
                </a:solidFill>
              </a:rPr>
              <a:t>Adam + cosine LR, mixed precision</a:t>
            </a:r>
            <a:endParaRPr lang="en-US" sz="1400" dirty="0"/>
          </a:p>
          <a:p>
            <a:pPr indent="0" marL="0">
              <a:buNone/>
            </a:pPr>
            <a:r>
              <a:rPr lang="en-US" sz="1200" dirty="0">
                <a:solidFill>
                  <a:schemeClr val="tx2"/>
                </a:solidFill>
              </a:rPr>
              <a:t>stable, about 6 s per epoch on a laptop GPU</a:t>
            </a:r>
            <a:endParaRPr lang="en-US" sz="1400" dirty="0"/>
          </a:p>
        </p:txBody>
      </p:sp>
      <p:sp>
        <p:nvSpPr>
          <p:cNvPr id="23" name="why-circle-5"/>
          <p:cNvSpPr/>
          <p:nvPr/>
        </p:nvSpPr>
        <p:spPr>
          <a:xfrm>
            <a:off x="4114800" y="3685032"/>
            <a:ext cx="420624" cy="420624"/>
          </a:xfrm>
          <a:prstGeom prst="ellipse">
            <a:avLst/>
          </a:prstGeom>
          <a:solidFill>
            <a:schemeClr val="accent2"/>
          </a:solidFill>
          <a:ln/>
        </p:spPr>
      </p:sp>
      <p:pic>
        <p:nvPicPr>
          <p:cNvPr id="24" name="why-icon-5" descr="preencoded.png">    </p:cNvPr>
          <p:cNvPicPr>
            <a:picLocks noChangeAspect="1"/>
          </p:cNvPicPr>
          <p:nvPr/>
        </p:nvPicPr>
        <p:blipFill>
          <a:blip r:embed="rId5"/>
          <a:stretch>
            <a:fillRect/>
          </a:stretch>
        </p:blipFill>
        <p:spPr>
          <a:xfrm>
            <a:off x="4215384" y="3785616"/>
            <a:ext cx="219456" cy="219456"/>
          </a:xfrm>
          <a:prstGeom prst="rect">
            <a:avLst/>
          </a:prstGeom>
        </p:spPr>
      </p:pic>
      <p:sp>
        <p:nvSpPr>
          <p:cNvPr id="25" name="why-text-5"/>
          <p:cNvSpPr txBox="1"/>
          <p:nvPr/>
        </p:nvSpPr>
        <p:spPr>
          <a:xfrm>
            <a:off x="4681728" y="3630168"/>
            <a:ext cx="4023360" cy="548640"/>
          </a:xfrm>
          <a:prstGeom prst="rect">
            <a:avLst/>
          </a:prstGeom>
          <a:noFill/>
          <a:ln/>
        </p:spPr>
        <p:txBody>
          <a:bodyPr wrap="square" lIns="0" tIns="0" rIns="0" bIns="0" rtlCol="0" anchor="ctr"/>
          <a:lstStyle/>
          <a:p>
            <a:pPr indent="0" marL="0">
              <a:buNone/>
            </a:pPr>
            <a:r>
              <a:rPr lang="en-US" sz="1400" b="1" dirty="0">
                <a:solidFill>
                  <a:schemeClr val="tx1"/>
                </a:solidFill>
              </a:rPr>
              <a:t>Pick the model on validation only</a:t>
            </a:r>
            <a:endParaRPr lang="en-US" sz="1400" dirty="0"/>
          </a:p>
          <a:p>
            <a:pPr indent="0" marL="0">
              <a:buNone/>
            </a:pPr>
            <a:r>
              <a:rPr lang="en-US" sz="1200" dirty="0">
                <a:solidFill>
                  <a:schemeClr val="tx2"/>
                </a:solidFill>
              </a:rPr>
              <a:t>the test set was used exactly once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Right grasp first in ~9 of 10 test scenes</a:t>
            </a:r>
            <a:endParaRPr lang="en-US" sz="3000" dirty="0"/>
          </a:p>
        </p:txBody>
      </p:sp>
      <p:sp>
        <p:nvSpPr>
          <p:cNvPr id="3" name="headline-card"/>
          <p:cNvSpPr/>
          <p:nvPr/>
        </p:nvSpPr>
        <p:spPr>
          <a:xfrm>
            <a:off x="457200" y="1143000"/>
            <a:ext cx="2743200" cy="3246120"/>
          </a:xfrm>
          <a:prstGeom prst="roundRect">
            <a:avLst>
              <a:gd name="adj" fmla="val 3333"/>
            </a:avLst>
          </a:prstGeom>
          <a:solidFill>
            <a:schemeClr val="tx1"/>
          </a:solidFill>
          <a:ln/>
        </p:spPr>
      </p:sp>
      <p:sp>
        <p:nvSpPr>
          <p:cNvPr id="4" name="headline-top1"/>
          <p:cNvSpPr txBox="1"/>
          <p:nvPr/>
        </p:nvSpPr>
        <p:spPr>
          <a:xfrm>
            <a:off x="640080" y="1280160"/>
            <a:ext cx="2377440" cy="868680"/>
          </a:xfrm>
          <a:prstGeom prst="rect">
            <a:avLst/>
          </a:prstGeom>
          <a:noFill/>
          <a:ln/>
        </p:spPr>
        <p:txBody>
          <a:bodyPr wrap="square" lIns="0" tIns="0" rIns="0" bIns="0" rtlCol="0" anchor="ctr"/>
          <a:lstStyle/>
          <a:p>
            <a:pPr indent="0" marL="0">
              <a:buNone/>
            </a:pPr>
            <a:r>
              <a:rPr lang="en-US" sz="5400" b="1" dirty="0">
                <a:solidFill>
                  <a:schemeClr val="accent1"/>
                </a:solidFill>
              </a:rPr>
              <a:t>88.6%</a:t>
            </a:r>
            <a:endParaRPr lang="en-US" sz="5400" dirty="0"/>
          </a:p>
        </p:txBody>
      </p:sp>
      <p:sp>
        <p:nvSpPr>
          <p:cNvPr id="5" name="headline-label"/>
          <p:cNvSpPr txBox="1"/>
          <p:nvPr/>
        </p:nvSpPr>
        <p:spPr>
          <a:xfrm>
            <a:off x="640080" y="2148840"/>
            <a:ext cx="2377440" cy="685800"/>
          </a:xfrm>
          <a:prstGeom prst="rect">
            <a:avLst/>
          </a:prstGeom>
          <a:noFill/>
          <a:ln/>
        </p:spPr>
        <p:txBody>
          <a:bodyPr wrap="square" lIns="0" tIns="0" rIns="0" bIns="0" rtlCol="0" anchor="ctr"/>
          <a:lstStyle/>
          <a:p>
            <a:pPr indent="0" marL="0">
              <a:buNone/>
            </a:pPr>
            <a:r>
              <a:rPr lang="en-US" sz="1200" dirty="0">
                <a:solidFill>
                  <a:schemeClr val="bg2"/>
                </a:solidFill>
              </a:rPr>
              <a:t>top-1 accuracy on 132 held-out test images (95% CI 82.1%–93.0%)</a:t>
            </a:r>
            <a:endParaRPr lang="en-US" sz="1200" dirty="0"/>
          </a:p>
        </p:txBody>
      </p:sp>
      <p:sp>
        <p:nvSpPr>
          <p:cNvPr id="6" name="headline-secondary"/>
          <p:cNvSpPr txBox="1"/>
          <p:nvPr/>
        </p:nvSpPr>
        <p:spPr>
          <a:xfrm>
            <a:off x="640080" y="2880360"/>
            <a:ext cx="2377440" cy="1371600"/>
          </a:xfrm>
          <a:prstGeom prst="rect">
            <a:avLst/>
          </a:prstGeom>
          <a:noFill/>
          <a:ln/>
        </p:spPr>
        <p:txBody>
          <a:bodyPr wrap="square" lIns="0" tIns="0" rIns="0" bIns="0" rtlCol="0" anchor="t"/>
          <a:lstStyle/>
          <a:p>
            <a:pPr indent="0" marL="0">
              <a:buNone/>
            </a:pPr>
            <a:r>
              <a:rPr lang="en-US" sz="2200" b="1" dirty="0">
                <a:solidFill>
                  <a:schemeClr val="bg1"/>
                </a:solidFill>
              </a:rPr>
              <a:t>95.5%</a:t>
            </a:r>
            <a:endParaRPr lang="en-US" sz="2200" dirty="0"/>
          </a:p>
          <a:p>
            <a:pPr indent="0" marL="0">
              <a:spcAft>
                <a:spcPts val="800"/>
              </a:spcAft>
              <a:buNone/>
            </a:pPr>
            <a:r>
              <a:rPr lang="en-US" sz="1200" dirty="0">
                <a:solidFill>
                  <a:schemeClr val="bg2"/>
                </a:solidFill>
              </a:rPr>
              <a:t>correct grasp among the top 5</a:t>
            </a:r>
            <a:endParaRPr lang="en-US" sz="2200" dirty="0"/>
          </a:p>
          <a:p>
            <a:pPr indent="0" marL="0">
              <a:buNone/>
            </a:pPr>
            <a:r>
              <a:rPr lang="en-US" sz="2200" b="1" dirty="0">
                <a:solidFill>
                  <a:schemeClr val="bg1"/>
                </a:solidFill>
              </a:rPr>
              <a:t>5.8 ms</a:t>
            </a:r>
            <a:endParaRPr lang="en-US" sz="2200" dirty="0"/>
          </a:p>
          <a:p>
            <a:pPr indent="0" marL="0">
              <a:buNone/>
            </a:pPr>
            <a:r>
              <a:rPr lang="en-US" sz="1200" dirty="0">
                <a:solidFill>
                  <a:schemeClr val="bg2"/>
                </a:solidFill>
              </a:rPr>
              <a:t>per image on a laptop GPU</a:t>
            </a:r>
            <a:endParaRPr lang="en-US" sz="2200" dirty="0"/>
          </a:p>
        </p:txBody>
      </p:sp>
      <p:graphicFrame>
        <p:nvGraphicFramePr>
          <p:cNvPr id="7" name="results-chart" descr=""/>
          <p:cNvGraphicFramePr/>
          <p:nvPr/>
        </p:nvGraphicFramePr>
        <p:xfrm>
          <a:off x="3474720" y="1051560"/>
          <a:ext cx="5212080" cy="2926080"/>
        </p:xfrm>
        <a:graphic xmlns:a="http://schemas.openxmlformats.org/drawingml/2006/main">
          <a:graphicData uri="http://schemas.openxmlformats.org/drawingml/2006/chart">
            <c:chart xmlns:c="http://schemas.openxmlformats.org/drawingml/2006/chart" r:id="rId1"/>
          </a:graphicData>
        </a:graphic>
      </p:graphicFrame>
      <p:sp>
        <p:nvSpPr>
          <p:cNvPr id="8" name="results-note"/>
          <p:cNvSpPr txBox="1"/>
          <p:nvPr/>
        </p:nvSpPr>
        <p:spPr>
          <a:xfrm>
            <a:off x="3474720" y="4023360"/>
            <a:ext cx="5212080" cy="640080"/>
          </a:xfrm>
          <a:prstGeom prst="rect">
            <a:avLst/>
          </a:prstGeom>
          <a:noFill/>
          <a:ln/>
        </p:spPr>
        <p:txBody>
          <a:bodyPr wrap="square" lIns="0" tIns="0" rIns="0" bIns="0" rtlCol="0" anchor="t"/>
          <a:lstStyle/>
          <a:p>
            <a:pPr indent="0" marL="0">
              <a:buNone/>
            </a:pPr>
            <a:r>
              <a:rPr lang="en-US" sz="1100" i="1" dirty="0">
                <a:solidFill>
                  <a:schemeClr val="tx2"/>
                </a:solidFill>
              </a:rPr>
              <a:t>Gaps between models are not statistically significant (paired McNemar p ≥ 0.33). The block split holds out runs of consecutive scenes, a harder, roughly unseen-object test. Published 97.7% used a different protocol.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What the model sees and chooses</a:t>
            </a:r>
            <a:endParaRPr lang="en-US" sz="3000" dirty="0"/>
          </a:p>
        </p:txBody>
      </p:sp>
      <p:pic>
        <p:nvPicPr>
          <p:cNvPr id="3" name="example-1" descr="preencoded.png">    </p:cNvPr>
          <p:cNvPicPr>
            <a:picLocks noChangeAspect="1"/>
          </p:cNvPicPr>
          <p:nvPr/>
        </p:nvPicPr>
        <p:blipFill>
          <a:blip r:embed="rId1"/>
          <a:stretch>
            <a:fillRect/>
          </a:stretch>
        </p:blipFill>
        <p:spPr>
          <a:xfrm>
            <a:off x="457200" y="1097280"/>
            <a:ext cx="3017520" cy="3017520"/>
          </a:xfrm>
          <a:prstGeom prst="ellipse">
            <a:avLst/>
          </a:prstGeom>
        </p:spPr>
      </p:pic>
      <p:pic>
        <p:nvPicPr>
          <p:cNvPr id="4" name="example-2" descr="preencoded.png">    </p:cNvPr>
          <p:cNvPicPr>
            <a:picLocks noChangeAspect="1"/>
          </p:cNvPicPr>
          <p:nvPr/>
        </p:nvPicPr>
        <p:blipFill>
          <a:blip r:embed="rId2"/>
          <a:stretch>
            <a:fillRect/>
          </a:stretch>
        </p:blipFill>
        <p:spPr>
          <a:xfrm>
            <a:off x="3703320" y="1097280"/>
            <a:ext cx="3017520" cy="3017520"/>
          </a:xfrm>
          <a:prstGeom prst="ellipse">
            <a:avLst/>
          </a:prstGeom>
        </p:spPr>
      </p:pic>
      <p:sp>
        <p:nvSpPr>
          <p:cNvPr id="5" name="examples-caption"/>
          <p:cNvSpPr txBox="1"/>
          <p:nvPr/>
        </p:nvSpPr>
        <p:spPr>
          <a:xfrm>
            <a:off x="457200" y="4224528"/>
            <a:ext cx="6263640" cy="274320"/>
          </a:xfrm>
          <a:prstGeom prst="rect">
            <a:avLst/>
          </a:prstGeom>
          <a:noFill/>
          <a:ln/>
        </p:spPr>
        <p:txBody>
          <a:bodyPr wrap="square" lIns="0" tIns="0" rIns="0" bIns="0" rtlCol="0" anchor="ctr"/>
          <a:lstStyle/>
          <a:p>
            <a:pPr algn="ctr" indent="0" marL="0">
              <a:buNone/>
            </a:pPr>
            <a:r>
              <a:rPr lang="en-US" sz="1100" i="1" dirty="0">
                <a:solidFill>
                  <a:schemeClr val="tx2"/>
                </a:solidFill>
              </a:rPr>
              <a:t>Two test-set objects the model never trained on</a:t>
            </a:r>
            <a:endParaRPr lang="en-US" sz="1100" dirty="0"/>
          </a:p>
        </p:txBody>
      </p:sp>
      <p:sp>
        <p:nvSpPr>
          <p:cNvPr id="6" name="legend-dot-1"/>
          <p:cNvSpPr/>
          <p:nvPr/>
        </p:nvSpPr>
        <p:spPr>
          <a:xfrm>
            <a:off x="6995160" y="1389888"/>
            <a:ext cx="256032" cy="256032"/>
          </a:xfrm>
          <a:prstGeom prst="ellipse">
            <a:avLst/>
          </a:prstGeom>
          <a:solidFill>
            <a:srgbClr val="0078FF"/>
          </a:solidFill>
          <a:ln/>
        </p:spPr>
      </p:sp>
      <p:sp>
        <p:nvSpPr>
          <p:cNvPr id="7" name="legend-text-1"/>
          <p:cNvSpPr txBox="1"/>
          <p:nvPr/>
        </p:nvSpPr>
        <p:spPr>
          <a:xfrm>
            <a:off x="7360920" y="1325880"/>
            <a:ext cx="1371600" cy="411480"/>
          </a:xfrm>
          <a:prstGeom prst="rect">
            <a:avLst/>
          </a:prstGeom>
          <a:noFill/>
          <a:ln/>
        </p:spPr>
        <p:txBody>
          <a:bodyPr wrap="square" lIns="0" tIns="0" rIns="0" bIns="0" rtlCol="0" anchor="ctr"/>
          <a:lstStyle/>
          <a:p>
            <a:pPr indent="0" marL="0">
              <a:buNone/>
            </a:pPr>
            <a:r>
              <a:rPr lang="en-US" sz="1300" dirty="0">
                <a:solidFill>
                  <a:schemeClr val="tx1"/>
                </a:solidFill>
              </a:rPr>
              <a:t>Chosen grasp</a:t>
            </a:r>
            <a:endParaRPr lang="en-US" sz="1300" dirty="0"/>
          </a:p>
        </p:txBody>
      </p:sp>
      <p:sp>
        <p:nvSpPr>
          <p:cNvPr id="8" name="legend-dot-2"/>
          <p:cNvSpPr/>
          <p:nvPr/>
        </p:nvSpPr>
        <p:spPr>
          <a:xfrm>
            <a:off x="6995160" y="2048256"/>
            <a:ext cx="256032" cy="256032"/>
          </a:xfrm>
          <a:prstGeom prst="ellipse">
            <a:avLst/>
          </a:prstGeom>
          <a:solidFill>
            <a:srgbClr val="FF00FF"/>
          </a:solidFill>
          <a:ln/>
        </p:spPr>
      </p:sp>
      <p:sp>
        <p:nvSpPr>
          <p:cNvPr id="9" name="legend-text-2"/>
          <p:cNvSpPr txBox="1"/>
          <p:nvPr/>
        </p:nvSpPr>
        <p:spPr>
          <a:xfrm>
            <a:off x="7360920" y="1984248"/>
            <a:ext cx="1371600" cy="411480"/>
          </a:xfrm>
          <a:prstGeom prst="rect">
            <a:avLst/>
          </a:prstGeom>
          <a:noFill/>
          <a:ln/>
        </p:spPr>
        <p:txBody>
          <a:bodyPr wrap="square" lIns="0" tIns="0" rIns="0" bIns="0" rtlCol="0" anchor="ctr"/>
          <a:lstStyle/>
          <a:p>
            <a:pPr indent="0" marL="0">
              <a:buNone/>
            </a:pPr>
            <a:r>
              <a:rPr lang="en-US" sz="1300" dirty="0">
                <a:solidFill>
                  <a:schemeClr val="tx1"/>
                </a:solidFill>
              </a:rPr>
              <a:t>Finger contact points</a:t>
            </a:r>
            <a:endParaRPr lang="en-US" sz="1300" dirty="0"/>
          </a:p>
        </p:txBody>
      </p:sp>
      <p:sp>
        <p:nvSpPr>
          <p:cNvPr id="10" name="legend-dot-3"/>
          <p:cNvSpPr/>
          <p:nvPr/>
        </p:nvSpPr>
        <p:spPr>
          <a:xfrm>
            <a:off x="6995160" y="2706624"/>
            <a:ext cx="256032" cy="256032"/>
          </a:xfrm>
          <a:prstGeom prst="ellipse">
            <a:avLst/>
          </a:prstGeom>
          <a:solidFill>
            <a:srgbClr val="FFBE00"/>
          </a:solidFill>
          <a:ln/>
        </p:spPr>
      </p:sp>
      <p:sp>
        <p:nvSpPr>
          <p:cNvPr id="11" name="legend-text-3"/>
          <p:cNvSpPr txBox="1"/>
          <p:nvPr/>
        </p:nvSpPr>
        <p:spPr>
          <a:xfrm>
            <a:off x="7360920" y="2642616"/>
            <a:ext cx="1371600" cy="411480"/>
          </a:xfrm>
          <a:prstGeom prst="rect">
            <a:avLst/>
          </a:prstGeom>
          <a:noFill/>
          <a:ln/>
        </p:spPr>
        <p:txBody>
          <a:bodyPr wrap="square" lIns="0" tIns="0" rIns="0" bIns="0" rtlCol="0" anchor="ctr"/>
          <a:lstStyle/>
          <a:p>
            <a:pPr indent="0" marL="0">
              <a:buNone/>
            </a:pPr>
            <a:r>
              <a:rPr lang="en-US" sz="1300" dirty="0">
                <a:solidFill>
                  <a:schemeClr val="tx1"/>
                </a:solidFill>
              </a:rPr>
              <a:t>Next-best options (rank:score)</a:t>
            </a:r>
            <a:endParaRPr lang="en-US" sz="1300" dirty="0"/>
          </a:p>
        </p:txBody>
      </p:sp>
      <p:sp>
        <p:nvSpPr>
          <p:cNvPr id="12" name="legend-dot-4"/>
          <p:cNvSpPr/>
          <p:nvPr/>
        </p:nvSpPr>
        <p:spPr>
          <a:xfrm>
            <a:off x="6995160" y="3364992"/>
            <a:ext cx="256032" cy="256032"/>
          </a:xfrm>
          <a:prstGeom prst="ellipse">
            <a:avLst/>
          </a:prstGeom>
          <a:solidFill>
            <a:srgbClr val="28C828"/>
          </a:solidFill>
          <a:ln/>
        </p:spPr>
      </p:sp>
      <p:sp>
        <p:nvSpPr>
          <p:cNvPr id="13" name="legend-text-4"/>
          <p:cNvSpPr txBox="1"/>
          <p:nvPr/>
        </p:nvSpPr>
        <p:spPr>
          <a:xfrm>
            <a:off x="7360920" y="3300984"/>
            <a:ext cx="1371600" cy="411480"/>
          </a:xfrm>
          <a:prstGeom prst="rect">
            <a:avLst/>
          </a:prstGeom>
          <a:noFill/>
          <a:ln/>
        </p:spPr>
        <p:txBody>
          <a:bodyPr wrap="square" lIns="0" tIns="0" rIns="0" bIns="0" rtlCol="0" anchor="ctr"/>
          <a:lstStyle/>
          <a:p>
            <a:pPr indent="0" marL="0">
              <a:buNone/>
            </a:pPr>
            <a:r>
              <a:rPr lang="en-US" sz="1300" dirty="0">
                <a:solidFill>
                  <a:schemeClr val="tx1"/>
                </a:solidFill>
              </a:rPr>
              <a:t>Human-labelled good grasps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chemeClr val="bg1"/>
                </a:solidFill>
              </a:rPr>
              <a:t>Try it yourself</a:t>
            </a:r>
            <a:endParaRPr lang="en-US" sz="3200" dirty="0"/>
          </a:p>
        </p:txBody>
      </p:sp>
      <p:sp>
        <p:nvSpPr>
          <p:cNvPr id="3" name="link-card-1"/>
          <p:cNvSpPr/>
          <p:nvPr/>
        </p:nvSpPr>
        <p:spPr>
          <a:xfrm>
            <a:off x="457200" y="1188720"/>
            <a:ext cx="8229600" cy="822960"/>
          </a:xfrm>
          <a:prstGeom prst="roundRect">
            <a:avLst>
              <a:gd name="adj" fmla="val 11111"/>
            </a:avLst>
          </a:prstGeom>
          <a:solidFill>
            <a:schemeClr val="tx2"/>
          </a:solidFill>
          <a:ln/>
        </p:spPr>
      </p:sp>
      <p:sp>
        <p:nvSpPr>
          <p:cNvPr id="4" name="link-circle-1"/>
          <p:cNvSpPr/>
          <p:nvPr/>
        </p:nvSpPr>
        <p:spPr>
          <a:xfrm>
            <a:off x="658368" y="1325880"/>
            <a:ext cx="548640" cy="548640"/>
          </a:xfrm>
          <a:prstGeom prst="ellipse">
            <a:avLst/>
          </a:prstGeom>
          <a:solidFill>
            <a:schemeClr val="accent1"/>
          </a:solidFill>
          <a:ln/>
        </p:spPr>
      </p:sp>
      <p:pic>
        <p:nvPicPr>
          <p:cNvPr id="5" name="link-icon-1" descr="preencoded.png">    </p:cNvPr>
          <p:cNvPicPr>
            <a:picLocks noChangeAspect="1"/>
          </p:cNvPicPr>
          <p:nvPr/>
        </p:nvPicPr>
        <p:blipFill>
          <a:blip r:embed="rId1"/>
          <a:stretch>
            <a:fillRect/>
          </a:stretch>
        </p:blipFill>
        <p:spPr>
          <a:xfrm>
            <a:off x="795528" y="1463040"/>
            <a:ext cx="274320" cy="274320"/>
          </a:xfrm>
          <a:prstGeom prst="rect">
            <a:avLst/>
          </a:prstGeom>
        </p:spPr>
      </p:pic>
      <p:sp>
        <p:nvSpPr>
          <p:cNvPr id="6" name="link-text-1"/>
          <p:cNvSpPr txBox="1"/>
          <p:nvPr/>
        </p:nvSpPr>
        <p:spPr>
          <a:xfrm>
            <a:off x="1417320" y="1280160"/>
            <a:ext cx="2926080" cy="640080"/>
          </a:xfrm>
          <a:prstGeom prst="rect">
            <a:avLst/>
          </a:prstGeom>
          <a:noFill/>
          <a:ln/>
        </p:spPr>
        <p:txBody>
          <a:bodyPr wrap="square" lIns="0" tIns="0" rIns="0" bIns="0" rtlCol="0" anchor="ctr"/>
          <a:lstStyle/>
          <a:p>
            <a:pPr indent="0" marL="0">
              <a:buNone/>
            </a:pPr>
            <a:r>
              <a:rPr lang="en-US" sz="1600" b="1" dirty="0">
                <a:solidFill>
                  <a:schemeClr val="bg1"/>
                </a:solidFill>
              </a:rPr>
              <a:t>Live demo</a:t>
            </a:r>
            <a:endParaRPr lang="en-US" sz="1600" dirty="0"/>
          </a:p>
          <a:p>
            <a:pPr indent="0" marL="0">
              <a:buNone/>
            </a:pPr>
            <a:r>
              <a:rPr lang="en-US" sz="1200" dirty="0">
                <a:solidFill>
                  <a:schemeClr val="bg2"/>
                </a:solidFill>
              </a:rPr>
              <a:t>Upload a photo or click an example</a:t>
            </a:r>
            <a:endParaRPr lang="en-US" sz="1600" dirty="0"/>
          </a:p>
        </p:txBody>
      </p:sp>
      <p:sp>
        <p:nvSpPr>
          <p:cNvPr id="7" name="link-url-1"/>
          <p:cNvSpPr txBox="1"/>
          <p:nvPr/>
        </p:nvSpPr>
        <p:spPr>
          <a:xfrm>
            <a:off x="4389120" y="1280160"/>
            <a:ext cx="4114800" cy="640080"/>
          </a:xfrm>
          <a:prstGeom prst="rect">
            <a:avLst/>
          </a:prstGeom>
          <a:noFill/>
          <a:ln/>
        </p:spPr>
        <p:txBody>
          <a:bodyPr wrap="square" lIns="0" tIns="0" rIns="0" bIns="0" rtlCol="0" anchor="ctr"/>
          <a:lstStyle/>
          <a:p>
            <a:pPr algn="r" indent="0" marL="0">
              <a:buNone/>
            </a:pPr>
            <a:r>
              <a:rPr lang="en-US" sz="1300" u="sng" dirty="0">
                <a:solidFill>
                  <a:schemeClr val="accent1"/>
                </a:solidFill>
                <a:hlinkClick r:id="rId2" invalidUrl="" action="" tgtFrame="" tooltip="https://huggingface.co/spaces/btechbillu/Vission-Based-grasper" history="1" highlightClick="0" endSnd="0">
                  <a:extLst>
                    <a:ext uri="{A12FA001-AC4F-418D-AE19-62706E023703}">
                      <ahyp:hlinkClr xmlns:ahyp="http://schemas.microsoft.com/office/drawing/2018/hyperlinkcolor" val="tx"/>
                    </a:ext>
                  </a:extLst>
                </a:hlinkClick>
              </a:rPr>
              <a:t>huggingface.co/spaces/btechbillu/Vission-Based-grasper</a:t>
            </a:r>
            <a:endParaRPr lang="en-US" sz="1300" dirty="0"/>
          </a:p>
        </p:txBody>
      </p:sp>
      <p:sp>
        <p:nvSpPr>
          <p:cNvPr id="8" name="link-card-2"/>
          <p:cNvSpPr/>
          <p:nvPr/>
        </p:nvSpPr>
        <p:spPr>
          <a:xfrm>
            <a:off x="457200" y="2176272"/>
            <a:ext cx="8229600" cy="822960"/>
          </a:xfrm>
          <a:prstGeom prst="roundRect">
            <a:avLst>
              <a:gd name="adj" fmla="val 11111"/>
            </a:avLst>
          </a:prstGeom>
          <a:solidFill>
            <a:schemeClr val="tx2"/>
          </a:solidFill>
          <a:ln/>
        </p:spPr>
      </p:sp>
      <p:sp>
        <p:nvSpPr>
          <p:cNvPr id="9" name="link-circle-2"/>
          <p:cNvSpPr/>
          <p:nvPr/>
        </p:nvSpPr>
        <p:spPr>
          <a:xfrm>
            <a:off x="658368" y="2313432"/>
            <a:ext cx="548640" cy="548640"/>
          </a:xfrm>
          <a:prstGeom prst="ellipse">
            <a:avLst/>
          </a:prstGeom>
          <a:solidFill>
            <a:schemeClr val="accent1"/>
          </a:solidFill>
          <a:ln/>
        </p:spPr>
      </p:sp>
      <p:pic>
        <p:nvPicPr>
          <p:cNvPr id="10" name="link-icon-2" descr="preencoded.png">    </p:cNvPr>
          <p:cNvPicPr>
            <a:picLocks noChangeAspect="1"/>
          </p:cNvPicPr>
          <p:nvPr/>
        </p:nvPicPr>
        <p:blipFill>
          <a:blip r:embed="rId3"/>
          <a:stretch>
            <a:fillRect/>
          </a:stretch>
        </p:blipFill>
        <p:spPr>
          <a:xfrm>
            <a:off x="795528" y="2450592"/>
            <a:ext cx="274320" cy="274320"/>
          </a:xfrm>
          <a:prstGeom prst="rect">
            <a:avLst/>
          </a:prstGeom>
        </p:spPr>
      </p:pic>
      <p:sp>
        <p:nvSpPr>
          <p:cNvPr id="11" name="link-text-2"/>
          <p:cNvSpPr txBox="1"/>
          <p:nvPr/>
        </p:nvSpPr>
        <p:spPr>
          <a:xfrm>
            <a:off x="1417320" y="2267712"/>
            <a:ext cx="2926080" cy="640080"/>
          </a:xfrm>
          <a:prstGeom prst="rect">
            <a:avLst/>
          </a:prstGeom>
          <a:noFill/>
          <a:ln/>
        </p:spPr>
        <p:txBody>
          <a:bodyPr wrap="square" lIns="0" tIns="0" rIns="0" bIns="0" rtlCol="0" anchor="ctr"/>
          <a:lstStyle/>
          <a:p>
            <a:pPr indent="0" marL="0">
              <a:buNone/>
            </a:pPr>
            <a:r>
              <a:rPr lang="en-US" sz="1600" b="1" dirty="0">
                <a:solidFill>
                  <a:schemeClr val="bg1"/>
                </a:solidFill>
              </a:rPr>
              <a:t>Code and full report</a:t>
            </a:r>
            <a:endParaRPr lang="en-US" sz="1600" dirty="0"/>
          </a:p>
          <a:p>
            <a:pPr indent="0" marL="0">
              <a:buNone/>
            </a:pPr>
            <a:r>
              <a:rPr lang="en-US" sz="1200" dirty="0">
                <a:solidFill>
                  <a:schemeClr val="bg2"/>
                </a:solidFill>
              </a:rPr>
              <a:t>Training, evaluation, tests, 13-chapter report</a:t>
            </a:r>
            <a:endParaRPr lang="en-US" sz="1600" dirty="0"/>
          </a:p>
        </p:txBody>
      </p:sp>
      <p:sp>
        <p:nvSpPr>
          <p:cNvPr id="12" name="link-url-2"/>
          <p:cNvSpPr txBox="1"/>
          <p:nvPr/>
        </p:nvSpPr>
        <p:spPr>
          <a:xfrm>
            <a:off x="4389120" y="2267712"/>
            <a:ext cx="4114800" cy="640080"/>
          </a:xfrm>
          <a:prstGeom prst="rect">
            <a:avLst/>
          </a:prstGeom>
          <a:noFill/>
          <a:ln/>
        </p:spPr>
        <p:txBody>
          <a:bodyPr wrap="square" lIns="0" tIns="0" rIns="0" bIns="0" rtlCol="0" anchor="ctr"/>
          <a:lstStyle/>
          <a:p>
            <a:pPr algn="r" indent="0" marL="0">
              <a:buNone/>
            </a:pPr>
            <a:r>
              <a:rPr lang="en-US" sz="1300" u="sng" dirty="0">
                <a:solidFill>
                  <a:schemeClr val="accent1"/>
                </a:solidFill>
                <a:hlinkClick r:id="rId4" invalidUrl="" action="" tgtFrame="" tooltip="https://github.com/harshultyagi/vision_based_gripper" history="1" highlightClick="0" endSnd="0">
                  <a:extLst>
                    <a:ext uri="{A12FA001-AC4F-418D-AE19-62706E023703}">
                      <ahyp:hlinkClr xmlns:ahyp="http://schemas.microsoft.com/office/drawing/2018/hyperlinkcolor" val="tx"/>
                    </a:ext>
                  </a:extLst>
                </a:hlinkClick>
              </a:rPr>
              <a:t>github.com/harshultyagi/vision_based_gripper</a:t>
            </a:r>
            <a:endParaRPr lang="en-US" sz="1300" dirty="0"/>
          </a:p>
        </p:txBody>
      </p:sp>
      <p:sp>
        <p:nvSpPr>
          <p:cNvPr id="13" name="link-card-3"/>
          <p:cNvSpPr/>
          <p:nvPr/>
        </p:nvSpPr>
        <p:spPr>
          <a:xfrm>
            <a:off x="457200" y="3163824"/>
            <a:ext cx="8229600" cy="822960"/>
          </a:xfrm>
          <a:prstGeom prst="roundRect">
            <a:avLst>
              <a:gd name="adj" fmla="val 11111"/>
            </a:avLst>
          </a:prstGeom>
          <a:solidFill>
            <a:schemeClr val="tx2"/>
          </a:solidFill>
          <a:ln/>
        </p:spPr>
      </p:sp>
      <p:sp>
        <p:nvSpPr>
          <p:cNvPr id="14" name="link-circle-3"/>
          <p:cNvSpPr/>
          <p:nvPr/>
        </p:nvSpPr>
        <p:spPr>
          <a:xfrm>
            <a:off x="658368" y="3300984"/>
            <a:ext cx="548640" cy="548640"/>
          </a:xfrm>
          <a:prstGeom prst="ellipse">
            <a:avLst/>
          </a:prstGeom>
          <a:solidFill>
            <a:schemeClr val="accent1"/>
          </a:solidFill>
          <a:ln/>
        </p:spPr>
      </p:sp>
      <p:pic>
        <p:nvPicPr>
          <p:cNvPr id="15" name="link-icon-3" descr="preencoded.png">    </p:cNvPr>
          <p:cNvPicPr>
            <a:picLocks noChangeAspect="1"/>
          </p:cNvPicPr>
          <p:nvPr/>
        </p:nvPicPr>
        <p:blipFill>
          <a:blip r:embed="rId5"/>
          <a:stretch>
            <a:fillRect/>
          </a:stretch>
        </p:blipFill>
        <p:spPr>
          <a:xfrm>
            <a:off x="795528" y="3438144"/>
            <a:ext cx="274320" cy="274320"/>
          </a:xfrm>
          <a:prstGeom prst="rect">
            <a:avLst/>
          </a:prstGeom>
        </p:spPr>
      </p:pic>
      <p:sp>
        <p:nvSpPr>
          <p:cNvPr id="16" name="link-text-3"/>
          <p:cNvSpPr txBox="1"/>
          <p:nvPr/>
        </p:nvSpPr>
        <p:spPr>
          <a:xfrm>
            <a:off x="1417320" y="3255264"/>
            <a:ext cx="2926080" cy="640080"/>
          </a:xfrm>
          <a:prstGeom prst="rect">
            <a:avLst/>
          </a:prstGeom>
          <a:noFill/>
          <a:ln/>
        </p:spPr>
        <p:txBody>
          <a:bodyPr wrap="square" lIns="0" tIns="0" rIns="0" bIns="0" rtlCol="0" anchor="ctr"/>
          <a:lstStyle/>
          <a:p>
            <a:pPr indent="0" marL="0">
              <a:buNone/>
            </a:pPr>
            <a:r>
              <a:rPr lang="en-US" sz="1600" b="1" dirty="0">
                <a:solidFill>
                  <a:schemeClr val="bg1"/>
                </a:solidFill>
              </a:rPr>
              <a:t>Dataset</a:t>
            </a:r>
            <a:endParaRPr lang="en-US" sz="1600" dirty="0"/>
          </a:p>
          <a:p>
            <a:pPr indent="0" marL="0">
              <a:buNone/>
            </a:pPr>
            <a:r>
              <a:rPr lang="en-US" sz="1200" dirty="0">
                <a:solidFill>
                  <a:schemeClr val="bg2"/>
                </a:solidFill>
              </a:rPr>
              <a:t>Cornell Grasping Dataset (Kaggle copy)</a:t>
            </a:r>
            <a:endParaRPr lang="en-US" sz="1600" dirty="0"/>
          </a:p>
        </p:txBody>
      </p:sp>
      <p:sp>
        <p:nvSpPr>
          <p:cNvPr id="17" name="link-url-3"/>
          <p:cNvSpPr txBox="1"/>
          <p:nvPr/>
        </p:nvSpPr>
        <p:spPr>
          <a:xfrm>
            <a:off x="4389120" y="3255264"/>
            <a:ext cx="4114800" cy="640080"/>
          </a:xfrm>
          <a:prstGeom prst="rect">
            <a:avLst/>
          </a:prstGeom>
          <a:noFill/>
          <a:ln/>
        </p:spPr>
        <p:txBody>
          <a:bodyPr wrap="square" lIns="0" tIns="0" rIns="0" bIns="0" rtlCol="0" anchor="ctr"/>
          <a:lstStyle/>
          <a:p>
            <a:pPr algn="r" indent="0" marL="0">
              <a:buNone/>
            </a:pPr>
            <a:r>
              <a:rPr lang="en-US" sz="1300" u="sng" dirty="0">
                <a:solidFill>
                  <a:schemeClr val="accent1"/>
                </a:solidFill>
                <a:hlinkClick r:id="rId6" invalidUrl="" action="" tgtFrame="" tooltip="https://www.kaggle.com/datasets/oneoneliu/cornell-grasp" history="1" highlightClick="0" endSnd="0">
                  <a:extLst>
                    <a:ext uri="{A12FA001-AC4F-418D-AE19-62706E023703}">
                      <ahyp:hlinkClr xmlns:ahyp="http://schemas.microsoft.com/office/drawing/2018/hyperlinkcolor" val="tx"/>
                    </a:ext>
                  </a:extLst>
                </a:hlinkClick>
              </a:rPr>
              <a:t>kaggle.com/datasets/oneoneliu/cornell-grasp</a:t>
            </a:r>
            <a:endParaRPr lang="en-US" sz="1300" dirty="0"/>
          </a:p>
        </p:txBody>
      </p:sp>
      <p:sp>
        <p:nvSpPr>
          <p:cNvPr id="18" name="limits"/>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i="1" dirty="0">
                <a:solidFill>
                  <a:schemeClr val="accent5"/>
                </a:solidFill>
              </a:rPr>
              <a:t>Limits: single-object scenes · 2-D image grasps only · not yet tested on a real robot</a:t>
            </a:r>
            <a:endParaRPr lang="en-US" sz="1200" dirty="0"/>
          </a:p>
        </p:txBody>
      </p:sp>
    </p:spTree>
  </p:cSld>
  <p:clrMapOvr>
    <a:masterClrMapping/>
  </p:clrMapOvr>
</p:sld>
</file>

<file path=ppt/theme/theme1.xml><?xml version="1.0" encoding="utf-8"?>
<a:theme xmlns:a="http://schemas.openxmlformats.org/drawingml/2006/main" name="Grasp Planner">
  <a:themeElements>
    <a:clrScheme name="Grasp Planner">
      <a:dk1>
        <a:srgbClr val="1B2631"/>
      </a:dk1>
      <a:lt1>
        <a:srgbClr val="FFFFFF"/>
      </a:lt1>
      <a:dk2>
        <a:srgbClr val="2E4057"/>
      </a:dk2>
      <a:lt2>
        <a:srgbClr val="EEF2F5"/>
      </a:lt2>
      <a:accent1>
        <a:srgbClr val="F28C28"/>
      </a:accent1>
      <a:accent2>
        <a:srgbClr val="2A9D8F"/>
      </a:accent2>
      <a:accent3>
        <a:srgbClr val="3E6A8A"/>
      </a:accent3>
      <a:accent4>
        <a:srgbClr val="E9C46A"/>
      </a:accent4>
      <a:accent5>
        <a:srgbClr val="8D99AE"/>
      </a:accent5>
      <a:accent6>
        <a:srgbClr val="D1495B"/>
      </a:accent6>
      <a:hlink>
        <a:srgbClr val="F28C28"/>
      </a:hlink>
      <a:folHlink>
        <a:srgbClr val="C06A12"/>
      </a:folHlink>
    </a:clrScheme>
    <a:fontScheme name="Grasp Pla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Vision-Based Robotic Grasp Planner</dc:title>
  <dc:subject>Planar grasp detection on the Cornell Grasping Dataset</dc:subject>
  <dc:creator>Harshul Tyagi</dc:creator>
  <cp:lastModifiedBy>Harshul Tyagi</cp:lastModifiedBy>
  <cp:revision>1</cp:revision>
  <dcterms:created xsi:type="dcterms:W3CDTF">2026-10-23T15:19:55Z</dcterms:created>
  <dcterms:modified xsi:type="dcterms:W3CDTF">2026-10-23T15:19:55Z</dcterms:modified>
</cp:coreProperties>
</file>